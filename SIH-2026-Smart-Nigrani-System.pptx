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1pPr>
    <a:lvl2pPr marL="0" marR="0" indent="457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2pPr>
    <a:lvl3pPr marL="0" marR="0" indent="914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3pPr>
    <a:lvl4pPr marL="0" marR="0" indent="1371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4pPr>
    <a:lvl5pPr marL="0" marR="0" indent="18288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5pPr>
    <a:lvl6pPr marL="0" marR="0" indent="22860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6pPr>
    <a:lvl7pPr marL="0" marR="0" indent="2743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7pPr>
    <a:lvl8pPr marL="0" marR="0" indent="3200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8pPr>
    <a:lvl9pPr marL="0" marR="0" indent="3657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 b="def" i="def"/>
      <a:tcStyle>
        <a:tcBdr/>
        <a:fill>
          <a:solidFill>
            <a:srgbClr val="E8ECF4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 b="def" i="def"/>
      <a:tcStyle>
        <a:tcBdr/>
        <a:fill>
          <a:solidFill>
            <a:srgbClr val="EFF3E9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 b="def" i="def"/>
      <a:tcStyle>
        <a:tcBdr/>
        <a:fill>
          <a:solidFill>
            <a:srgbClr val="FDEE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92" name="Shape 92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spcBef>
        <a:spcPts val="400"/>
      </a:spcBef>
      <a:defRPr sz="1200">
        <a:latin typeface="+mj-lt"/>
        <a:ea typeface="+mj-ea"/>
        <a:cs typeface="+mj-cs"/>
        <a:sym typeface="Calibri"/>
      </a:defRPr>
    </a:lvl1pPr>
    <a:lvl2pPr indent="228600" defTabSz="457200" latinLnBrk="0">
      <a:spcBef>
        <a:spcPts val="400"/>
      </a:spcBef>
      <a:defRPr sz="1200">
        <a:latin typeface="+mj-lt"/>
        <a:ea typeface="+mj-ea"/>
        <a:cs typeface="+mj-cs"/>
        <a:sym typeface="Calibri"/>
      </a:defRPr>
    </a:lvl2pPr>
    <a:lvl3pPr indent="457200" defTabSz="457200" latinLnBrk="0">
      <a:spcBef>
        <a:spcPts val="400"/>
      </a:spcBef>
      <a:defRPr sz="1200">
        <a:latin typeface="+mj-lt"/>
        <a:ea typeface="+mj-ea"/>
        <a:cs typeface="+mj-cs"/>
        <a:sym typeface="Calibri"/>
      </a:defRPr>
    </a:lvl3pPr>
    <a:lvl4pPr indent="685800" defTabSz="457200" latinLnBrk="0">
      <a:spcBef>
        <a:spcPts val="400"/>
      </a:spcBef>
      <a:defRPr sz="1200">
        <a:latin typeface="+mj-lt"/>
        <a:ea typeface="+mj-ea"/>
        <a:cs typeface="+mj-cs"/>
        <a:sym typeface="Calibri"/>
      </a:defRPr>
    </a:lvl4pPr>
    <a:lvl5pPr indent="914400" defTabSz="457200" latinLnBrk="0">
      <a:spcBef>
        <a:spcPts val="400"/>
      </a:spcBef>
      <a:defRPr sz="1200">
        <a:latin typeface="+mj-lt"/>
        <a:ea typeface="+mj-ea"/>
        <a:cs typeface="+mj-cs"/>
        <a:sym typeface="Calibri"/>
      </a:defRPr>
    </a:lvl5pPr>
    <a:lvl6pPr indent="1143000" defTabSz="457200" latinLnBrk="0">
      <a:spcBef>
        <a:spcPts val="400"/>
      </a:spcBef>
      <a:defRPr sz="1200">
        <a:latin typeface="+mj-lt"/>
        <a:ea typeface="+mj-ea"/>
        <a:cs typeface="+mj-cs"/>
        <a:sym typeface="Calibri"/>
      </a:defRPr>
    </a:lvl6pPr>
    <a:lvl7pPr indent="1371600" defTabSz="457200" latinLnBrk="0">
      <a:spcBef>
        <a:spcPts val="400"/>
      </a:spcBef>
      <a:defRPr sz="1200">
        <a:latin typeface="+mj-lt"/>
        <a:ea typeface="+mj-ea"/>
        <a:cs typeface="+mj-cs"/>
        <a:sym typeface="Calibri"/>
      </a:defRPr>
    </a:lvl7pPr>
    <a:lvl8pPr indent="1600200" defTabSz="457200" latinLnBrk="0">
      <a:spcBef>
        <a:spcPts val="400"/>
      </a:spcBef>
      <a:defRPr sz="1200">
        <a:latin typeface="+mj-lt"/>
        <a:ea typeface="+mj-ea"/>
        <a:cs typeface="+mj-cs"/>
        <a:sym typeface="Calibri"/>
      </a:defRPr>
    </a:lvl8pPr>
    <a:lvl9pPr indent="1828800" defTabSz="457200" latinLnBrk="0">
      <a:spcBef>
        <a:spcPts val="400"/>
      </a:spcBef>
      <a:defRPr sz="1200">
        <a:latin typeface="+mj-lt"/>
        <a:ea typeface="+mj-ea"/>
        <a:cs typeface="+mj-cs"/>
        <a:sym typeface="Calibri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/>
          <p:nvPr>
            <p:ph type="title"/>
          </p:nvPr>
        </p:nvSpPr>
        <p:spPr>
          <a:xfrm>
            <a:off x="914400" y="2130427"/>
            <a:ext cx="10363200" cy="1470026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12" name="Body Level One…"/>
          <p:cNvSpPr txBox="1"/>
          <p:nvPr>
            <p:ph type="body" sz="quarter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1pPr>
            <a:lvl2pPr marL="0" indent="457200" algn="ctr">
              <a:buSzTx/>
              <a:buFontTx/>
              <a:buNone/>
              <a:defRPr>
                <a:solidFill>
                  <a:srgbClr val="888888"/>
                </a:solidFill>
              </a:defRPr>
            </a:lvl2pPr>
            <a:lvl3pPr marL="0" indent="914400" algn="ctr">
              <a:buSzTx/>
              <a:buFontTx/>
              <a:buNone/>
              <a:defRPr>
                <a:solidFill>
                  <a:srgbClr val="888888"/>
                </a:solidFill>
              </a:defRPr>
            </a:lvl3pPr>
            <a:lvl4pPr marL="0" indent="1371600" algn="ctr">
              <a:buSzTx/>
              <a:buFontTx/>
              <a:buNone/>
              <a:defRPr>
                <a:solidFill>
                  <a:srgbClr val="888888"/>
                </a:solidFill>
              </a:defRPr>
            </a:lvl4pPr>
            <a:lvl5pPr marL="0" indent="1828800" algn="ctr">
              <a:buSzTx/>
              <a:buFontTx/>
              <a:buNone/>
              <a:defRPr>
                <a:solidFill>
                  <a:srgbClr val="888888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21" name="Body Level One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Text"/>
          <p:cNvSpPr txBox="1"/>
          <p:nvPr>
            <p:ph type="title"/>
          </p:nvPr>
        </p:nvSpPr>
        <p:spPr>
          <a:xfrm>
            <a:off x="963084" y="4406903"/>
            <a:ext cx="10363201" cy="1362076"/>
          </a:xfrm>
          <a:prstGeom prst="rect">
            <a:avLst/>
          </a:prstGeom>
        </p:spPr>
        <p:txBody>
          <a:bodyPr anchor="t"/>
          <a:lstStyle>
            <a:lvl1pPr algn="l">
              <a:defRPr b="1" cap="all" sz="4000"/>
            </a:lvl1pPr>
          </a:lstStyle>
          <a:p>
            <a:pPr/>
            <a:r>
              <a:t>Title Text</a:t>
            </a:r>
          </a:p>
        </p:txBody>
      </p:sp>
      <p:sp>
        <p:nvSpPr>
          <p:cNvPr id="30" name="Body Level One…"/>
          <p:cNvSpPr txBox="1"/>
          <p:nvPr>
            <p:ph type="body" sz="quarter" idx="1"/>
          </p:nvPr>
        </p:nvSpPr>
        <p:spPr>
          <a:xfrm>
            <a:off x="963084" y="2906713"/>
            <a:ext cx="10363201" cy="1500188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1pPr>
            <a:lvl2pPr marL="0" indent="4572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2pPr>
            <a:lvl3pPr marL="0" indent="9144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3pPr>
            <a:lvl4pPr marL="0" indent="13716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4pPr>
            <a:lvl5pPr marL="0" indent="18288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39" name="Body Level One…"/>
          <p:cNvSpPr txBox="1"/>
          <p:nvPr>
            <p:ph type="body" sz="half" idx="1"/>
          </p:nvPr>
        </p:nvSpPr>
        <p:spPr>
          <a:xfrm>
            <a:off x="609600" y="1600203"/>
            <a:ext cx="5384800" cy="452596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defRPr sz="2800"/>
            </a:lvl1pPr>
            <a:lvl2pPr marL="790575" indent="-333375">
              <a:spcBef>
                <a:spcPts val="600"/>
              </a:spcBef>
              <a:defRPr sz="2800"/>
            </a:lvl2pPr>
            <a:lvl3pPr marL="1234439" indent="-320039">
              <a:spcBef>
                <a:spcPts val="600"/>
              </a:spcBef>
              <a:defRPr sz="2800"/>
            </a:lvl3pPr>
            <a:lvl4pPr marL="1727200" indent="-355600">
              <a:spcBef>
                <a:spcPts val="600"/>
              </a:spcBef>
              <a:defRPr sz="2800"/>
            </a:lvl4pPr>
            <a:lvl5pPr marL="2184400" indent="-355600">
              <a:spcBef>
                <a:spcPts val="600"/>
              </a:spcBef>
              <a:defRPr sz="28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48" name="Body Level One…"/>
          <p:cNvSpPr txBox="1"/>
          <p:nvPr>
            <p:ph type="body" sz="quarter" idx="1"/>
          </p:nvPr>
        </p:nvSpPr>
        <p:spPr>
          <a:xfrm>
            <a:off x="609600" y="1535112"/>
            <a:ext cx="5386917" cy="639763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500"/>
              </a:spcBef>
              <a:buSzTx/>
              <a:buFontTx/>
              <a:buNone/>
              <a:defRPr b="1" sz="2400"/>
            </a:lvl1pPr>
            <a:lvl2pPr marL="0" indent="457200">
              <a:spcBef>
                <a:spcPts val="500"/>
              </a:spcBef>
              <a:buSzTx/>
              <a:buFontTx/>
              <a:buNone/>
              <a:defRPr b="1" sz="2400"/>
            </a:lvl2pPr>
            <a:lvl3pPr marL="0" indent="914400">
              <a:spcBef>
                <a:spcPts val="500"/>
              </a:spcBef>
              <a:buSzTx/>
              <a:buFontTx/>
              <a:buNone/>
              <a:defRPr b="1" sz="2400"/>
            </a:lvl3pPr>
            <a:lvl4pPr marL="0" indent="1371600">
              <a:spcBef>
                <a:spcPts val="500"/>
              </a:spcBef>
              <a:buSzTx/>
              <a:buFontTx/>
              <a:buNone/>
              <a:defRPr b="1" sz="2400"/>
            </a:lvl4pPr>
            <a:lvl5pPr marL="0" indent="1828800">
              <a:spcBef>
                <a:spcPts val="500"/>
              </a:spcBef>
              <a:buSzTx/>
              <a:buFontTx/>
              <a:buNone/>
              <a:defRPr b="1" sz="2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9" name="Text Placeholder 4"/>
          <p:cNvSpPr/>
          <p:nvPr>
            <p:ph type="body" sz="quarter" idx="21"/>
          </p:nvPr>
        </p:nvSpPr>
        <p:spPr>
          <a:xfrm>
            <a:off x="6193368" y="1535112"/>
            <a:ext cx="5389034" cy="639763"/>
          </a:xfrm>
          <a:prstGeom prst="rect">
            <a:avLst/>
          </a:prstGeom>
        </p:spPr>
        <p:txBody>
          <a:bodyPr anchor="b"/>
          <a:lstStyle/>
          <a:p>
            <a:pPr marL="0" indent="0">
              <a:spcBef>
                <a:spcPts val="500"/>
              </a:spcBef>
              <a:buSzTx/>
              <a:buFontTx/>
              <a:buNone/>
              <a:defRPr b="1" sz="2400"/>
            </a:pPr>
          </a:p>
        </p:txBody>
      </p:sp>
      <p:sp>
        <p:nvSpPr>
          <p:cNvPr id="5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5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itle Text"/>
          <p:cNvSpPr txBox="1"/>
          <p:nvPr>
            <p:ph type="title"/>
          </p:nvPr>
        </p:nvSpPr>
        <p:spPr>
          <a:xfrm>
            <a:off x="609601" y="273050"/>
            <a:ext cx="4011085" cy="1162050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Title Text</a:t>
            </a:r>
          </a:p>
        </p:txBody>
      </p:sp>
      <p:sp>
        <p:nvSpPr>
          <p:cNvPr id="73" name="Body Level One…"/>
          <p:cNvSpPr txBox="1"/>
          <p:nvPr>
            <p:ph type="body" idx="1"/>
          </p:nvPr>
        </p:nvSpPr>
        <p:spPr>
          <a:xfrm>
            <a:off x="4766733" y="273053"/>
            <a:ext cx="6815667" cy="5853113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4" name="Text Placeholder 3"/>
          <p:cNvSpPr/>
          <p:nvPr>
            <p:ph type="body" sz="half" idx="21"/>
          </p:nvPr>
        </p:nvSpPr>
        <p:spPr>
          <a:xfrm>
            <a:off x="609601" y="1435103"/>
            <a:ext cx="4011085" cy="4691063"/>
          </a:xfrm>
          <a:prstGeom prst="rect">
            <a:avLst/>
          </a:prstGeom>
        </p:spPr>
        <p:txBody>
          <a:bodyPr/>
          <a:lstStyle/>
          <a:p>
            <a:pPr marL="0" indent="0">
              <a:spcBef>
                <a:spcPts val="300"/>
              </a:spcBef>
              <a:buSzTx/>
              <a:buFontTx/>
              <a:buNone/>
              <a:defRPr sz="1400"/>
            </a:pPr>
          </a:p>
        </p:txBody>
      </p:sp>
      <p:sp>
        <p:nvSpPr>
          <p:cNvPr id="7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itle Text"/>
          <p:cNvSpPr txBox="1"/>
          <p:nvPr>
            <p:ph type="title"/>
          </p:nvPr>
        </p:nvSpPr>
        <p:spPr>
          <a:xfrm>
            <a:off x="2389716" y="4800600"/>
            <a:ext cx="7315201" cy="566738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Title Text</a:t>
            </a:r>
          </a:p>
        </p:txBody>
      </p:sp>
      <p:sp>
        <p:nvSpPr>
          <p:cNvPr id="83" name="Picture Placeholder 2"/>
          <p:cNvSpPr/>
          <p:nvPr>
            <p:ph type="pic" sz="half" idx="21"/>
          </p:nvPr>
        </p:nvSpPr>
        <p:spPr>
          <a:xfrm>
            <a:off x="2389716" y="612775"/>
            <a:ext cx="7315201" cy="41148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/>
          </a:p>
        </p:txBody>
      </p:sp>
      <p:sp>
        <p:nvSpPr>
          <p:cNvPr id="84" name="Body Level One…"/>
          <p:cNvSpPr txBox="1"/>
          <p:nvPr>
            <p:ph type="body" sz="quarter" idx="1"/>
          </p:nvPr>
        </p:nvSpPr>
        <p:spPr>
          <a:xfrm>
            <a:off x="2389716" y="5367337"/>
            <a:ext cx="7315201" cy="804863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300"/>
              </a:spcBef>
              <a:buSzTx/>
              <a:buFontTx/>
              <a:buNone/>
              <a:defRPr sz="1400"/>
            </a:lvl1pPr>
            <a:lvl2pPr marL="0" indent="457200">
              <a:spcBef>
                <a:spcPts val="300"/>
              </a:spcBef>
              <a:buSzTx/>
              <a:buFontTx/>
              <a:buNone/>
              <a:defRPr sz="1400"/>
            </a:lvl2pPr>
            <a:lvl3pPr marL="0" indent="914400">
              <a:spcBef>
                <a:spcPts val="300"/>
              </a:spcBef>
              <a:buSzTx/>
              <a:buFontTx/>
              <a:buNone/>
              <a:defRPr sz="1400"/>
            </a:lvl3pPr>
            <a:lvl4pPr marL="0" indent="1371600">
              <a:spcBef>
                <a:spcPts val="300"/>
              </a:spcBef>
              <a:buSzTx/>
              <a:buFontTx/>
              <a:buNone/>
              <a:defRPr sz="1400"/>
            </a:lvl4pPr>
            <a:lvl5pPr marL="0" indent="1828800">
              <a:spcBef>
                <a:spcPts val="300"/>
              </a:spcBef>
              <a:buSzTx/>
              <a:buFontTx/>
              <a:buNone/>
              <a:defRPr sz="1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609600" y="1095375"/>
            <a:ext cx="10972800" cy="50307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11308744" y="6404295"/>
            <a:ext cx="273657" cy="26924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solidFill>
                  <a:srgbClr val="898989"/>
                </a:solidFill>
                <a:latin typeface="TradeGothic"/>
                <a:ea typeface="TradeGothic"/>
                <a:cs typeface="TradeGothic"/>
                <a:sym typeface="TradeGothic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transition xmlns:p14="http://schemas.microsoft.com/office/powerpoint/2010/main" spd="med" advClick="1"/>
  <p:txStyles>
    <p:titleStyle>
      <a:lvl1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TradeGothic"/>
          <a:ea typeface="TradeGothic"/>
          <a:cs typeface="TradeGothic"/>
          <a:sym typeface="TradeGothic"/>
        </a:defRPr>
      </a:lvl1pPr>
      <a:lvl2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TradeGothic"/>
          <a:ea typeface="TradeGothic"/>
          <a:cs typeface="TradeGothic"/>
          <a:sym typeface="TradeGothic"/>
        </a:defRPr>
      </a:lvl2pPr>
      <a:lvl3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TradeGothic"/>
          <a:ea typeface="TradeGothic"/>
          <a:cs typeface="TradeGothic"/>
          <a:sym typeface="TradeGothic"/>
        </a:defRPr>
      </a:lvl3pPr>
      <a:lvl4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TradeGothic"/>
          <a:ea typeface="TradeGothic"/>
          <a:cs typeface="TradeGothic"/>
          <a:sym typeface="TradeGothic"/>
        </a:defRPr>
      </a:lvl4pPr>
      <a:lvl5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TradeGothic"/>
          <a:ea typeface="TradeGothic"/>
          <a:cs typeface="TradeGothic"/>
          <a:sym typeface="TradeGothic"/>
        </a:defRPr>
      </a:lvl5pPr>
      <a:lvl6pPr marL="0" marR="0" indent="45720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TradeGothic"/>
          <a:ea typeface="TradeGothic"/>
          <a:cs typeface="TradeGothic"/>
          <a:sym typeface="TradeGothic"/>
        </a:defRPr>
      </a:lvl6pPr>
      <a:lvl7pPr marL="0" marR="0" indent="91440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TradeGothic"/>
          <a:ea typeface="TradeGothic"/>
          <a:cs typeface="TradeGothic"/>
          <a:sym typeface="TradeGothic"/>
        </a:defRPr>
      </a:lvl7pPr>
      <a:lvl8pPr marL="0" marR="0" indent="137160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TradeGothic"/>
          <a:ea typeface="TradeGothic"/>
          <a:cs typeface="TradeGothic"/>
          <a:sym typeface="TradeGothic"/>
        </a:defRPr>
      </a:lvl8pPr>
      <a:lvl9pPr marL="0" marR="0" indent="182880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TradeGothic"/>
          <a:ea typeface="TradeGothic"/>
          <a:cs typeface="TradeGothic"/>
          <a:sym typeface="TradeGothic"/>
        </a:defRPr>
      </a:lvl9pPr>
    </p:titleStyle>
    <p:bodyStyle>
      <a:lvl1pPr marL="342900" marR="0" indent="-3429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TradeGothic"/>
          <a:ea typeface="TradeGothic"/>
          <a:cs typeface="TradeGothic"/>
          <a:sym typeface="TradeGothic"/>
        </a:defRPr>
      </a:lvl1pPr>
      <a:lvl2pPr marL="783771" marR="0" indent="-326571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TradeGothic"/>
          <a:ea typeface="TradeGothic"/>
          <a:cs typeface="TradeGothic"/>
          <a:sym typeface="TradeGothic"/>
        </a:defRPr>
      </a:lvl2pPr>
      <a:lvl3pPr marL="1219200" marR="0" indent="-3048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TradeGothic"/>
          <a:ea typeface="TradeGothic"/>
          <a:cs typeface="TradeGothic"/>
          <a:sym typeface="TradeGothic"/>
        </a:defRPr>
      </a:lvl3pPr>
      <a:lvl4pPr marL="17373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TradeGothic"/>
          <a:ea typeface="TradeGothic"/>
          <a:cs typeface="TradeGothic"/>
          <a:sym typeface="TradeGothic"/>
        </a:defRPr>
      </a:lvl4pPr>
      <a:lvl5pPr marL="21945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3200" u="none">
          <a:solidFill>
            <a:srgbClr val="000000"/>
          </a:solidFill>
          <a:uFillTx/>
          <a:latin typeface="TradeGothic"/>
          <a:ea typeface="TradeGothic"/>
          <a:cs typeface="TradeGothic"/>
          <a:sym typeface="TradeGothic"/>
        </a:defRPr>
      </a:lvl5pPr>
      <a:lvl6pPr marL="26517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TradeGothic"/>
          <a:ea typeface="TradeGothic"/>
          <a:cs typeface="TradeGothic"/>
          <a:sym typeface="TradeGothic"/>
        </a:defRPr>
      </a:lvl6pPr>
      <a:lvl7pPr marL="31089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TradeGothic"/>
          <a:ea typeface="TradeGothic"/>
          <a:cs typeface="TradeGothic"/>
          <a:sym typeface="TradeGothic"/>
        </a:defRPr>
      </a:lvl7pPr>
      <a:lvl8pPr marL="35661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TradeGothic"/>
          <a:ea typeface="TradeGothic"/>
          <a:cs typeface="TradeGothic"/>
          <a:sym typeface="TradeGothic"/>
        </a:defRPr>
      </a:lvl8pPr>
      <a:lvl9pPr marL="40233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TradeGothic"/>
          <a:ea typeface="TradeGothic"/>
          <a:cs typeface="TradeGothic"/>
          <a:sym typeface="TradeGothic"/>
        </a:defRPr>
      </a:lvl9pPr>
    </p:bodyStyle>
    <p:otherStyle>
      <a:lvl1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TradeGothic"/>
        </a:defRPr>
      </a:lvl1pPr>
      <a:lvl2pPr marL="0" marR="0" indent="457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TradeGothic"/>
        </a:defRPr>
      </a:lvl2pPr>
      <a:lvl3pPr marL="0" marR="0" indent="9144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TradeGothic"/>
        </a:defRPr>
      </a:lvl3pPr>
      <a:lvl4pPr marL="0" marR="0" indent="1371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TradeGothic"/>
        </a:defRPr>
      </a:lvl4pPr>
      <a:lvl5pPr marL="0" marR="0" indent="18288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TradeGothic"/>
        </a:defRPr>
      </a:lvl5pPr>
      <a:lvl6pPr marL="0" marR="0" indent="22860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TradeGothic"/>
        </a:defRPr>
      </a:lvl6pPr>
      <a:lvl7pPr marL="0" marR="0" indent="2743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TradeGothic"/>
        </a:defRPr>
      </a:lvl7pPr>
      <a:lvl8pPr marL="0" marR="0" indent="32004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TradeGothic"/>
        </a:defRPr>
      </a:lvl8pPr>
      <a:lvl9pPr marL="0" marR="0" indent="3657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TradeGothic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.jpg"/><Relationship Id="rId4" Type="http://schemas.openxmlformats.org/officeDocument/2006/relationships/image" Target="../media/image8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4.jpg"/><Relationship Id="rId4" Type="http://schemas.openxmlformats.org/officeDocument/2006/relationships/image" Target="../media/image9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5.jpg"/><Relationship Id="rId4" Type="http://schemas.openxmlformats.org/officeDocument/2006/relationships/image" Target="../media/image10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6.jpg"/><Relationship Id="rId4" Type="http://schemas.openxmlformats.org/officeDocument/2006/relationships/image" Target="../media/image1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mplads.mospi.gov.in/digigov/dashboard.html" TargetMode="External"/><Relationship Id="rId3" Type="http://schemas.openxmlformats.org/officeDocument/2006/relationships/image" Target="../media/image2.png"/><Relationship Id="rId4" Type="http://schemas.openxmlformats.org/officeDocument/2006/relationships/image" Target="../media/image7.jpg"/><Relationship Id="rId5" Type="http://schemas.openxmlformats.org/officeDocument/2006/relationships/image" Target="../media/image12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Rectangle 24"/>
          <p:cNvSpPr/>
          <p:nvPr/>
        </p:nvSpPr>
        <p:spPr>
          <a:xfrm>
            <a:off x="1524000" y="0"/>
            <a:ext cx="9144000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5" name="Freeform: Shape 26"/>
          <p:cNvSpPr/>
          <p:nvPr/>
        </p:nvSpPr>
        <p:spPr>
          <a:xfrm>
            <a:off x="7416800" y="851520"/>
            <a:ext cx="4638605" cy="515496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23" h="21600" fill="norm" stroke="1" extrusionOk="0">
                <a:moveTo>
                  <a:pt x="1264" y="13095"/>
                </a:moveTo>
                <a:cubicBezTo>
                  <a:pt x="1264" y="13095"/>
                  <a:pt x="1264" y="13095"/>
                  <a:pt x="3126" y="13095"/>
                </a:cubicBezTo>
                <a:cubicBezTo>
                  <a:pt x="3243" y="13095"/>
                  <a:pt x="3355" y="13172"/>
                  <a:pt x="3412" y="13298"/>
                </a:cubicBezTo>
                <a:cubicBezTo>
                  <a:pt x="3412" y="13298"/>
                  <a:pt x="3412" y="13298"/>
                  <a:pt x="4345" y="15232"/>
                </a:cubicBezTo>
                <a:cubicBezTo>
                  <a:pt x="4405" y="15353"/>
                  <a:pt x="4405" y="15507"/>
                  <a:pt x="4345" y="15628"/>
                </a:cubicBezTo>
                <a:cubicBezTo>
                  <a:pt x="4345" y="15628"/>
                  <a:pt x="4345" y="15628"/>
                  <a:pt x="3412" y="17563"/>
                </a:cubicBezTo>
                <a:cubicBezTo>
                  <a:pt x="3355" y="17688"/>
                  <a:pt x="3243" y="17765"/>
                  <a:pt x="3126" y="17765"/>
                </a:cubicBezTo>
                <a:cubicBezTo>
                  <a:pt x="3126" y="17765"/>
                  <a:pt x="3126" y="17765"/>
                  <a:pt x="1264" y="17765"/>
                </a:cubicBezTo>
                <a:cubicBezTo>
                  <a:pt x="1143" y="17765"/>
                  <a:pt x="1035" y="17688"/>
                  <a:pt x="974" y="17563"/>
                </a:cubicBezTo>
                <a:cubicBezTo>
                  <a:pt x="974" y="17563"/>
                  <a:pt x="974" y="17563"/>
                  <a:pt x="45" y="15628"/>
                </a:cubicBezTo>
                <a:cubicBezTo>
                  <a:pt x="-15" y="15507"/>
                  <a:pt x="-15" y="15353"/>
                  <a:pt x="45" y="15232"/>
                </a:cubicBezTo>
                <a:cubicBezTo>
                  <a:pt x="45" y="15232"/>
                  <a:pt x="45" y="15232"/>
                  <a:pt x="974" y="13298"/>
                </a:cubicBezTo>
                <a:cubicBezTo>
                  <a:pt x="1035" y="13172"/>
                  <a:pt x="1143" y="13095"/>
                  <a:pt x="1264" y="13095"/>
                </a:cubicBezTo>
                <a:close/>
                <a:moveTo>
                  <a:pt x="8664" y="2389"/>
                </a:moveTo>
                <a:cubicBezTo>
                  <a:pt x="8664" y="2389"/>
                  <a:pt x="8664" y="2389"/>
                  <a:pt x="9622" y="2389"/>
                </a:cubicBezTo>
                <a:lnTo>
                  <a:pt x="9733" y="2389"/>
                </a:lnTo>
                <a:lnTo>
                  <a:pt x="9840" y="2610"/>
                </a:lnTo>
                <a:cubicBezTo>
                  <a:pt x="9988" y="2917"/>
                  <a:pt x="10161" y="3275"/>
                  <a:pt x="10362" y="3692"/>
                </a:cubicBezTo>
                <a:cubicBezTo>
                  <a:pt x="10454" y="3877"/>
                  <a:pt x="10454" y="4113"/>
                  <a:pt x="10362" y="4298"/>
                </a:cubicBezTo>
                <a:cubicBezTo>
                  <a:pt x="10362" y="4298"/>
                  <a:pt x="10362" y="4298"/>
                  <a:pt x="8933" y="7261"/>
                </a:cubicBezTo>
                <a:cubicBezTo>
                  <a:pt x="8847" y="7453"/>
                  <a:pt x="8674" y="7571"/>
                  <a:pt x="8496" y="7571"/>
                </a:cubicBezTo>
                <a:cubicBezTo>
                  <a:pt x="8496" y="7571"/>
                  <a:pt x="8496" y="7571"/>
                  <a:pt x="5644" y="7571"/>
                </a:cubicBezTo>
                <a:cubicBezTo>
                  <a:pt x="5598" y="7571"/>
                  <a:pt x="5553" y="7564"/>
                  <a:pt x="5510" y="7550"/>
                </a:cubicBezTo>
                <a:lnTo>
                  <a:pt x="5417" y="7503"/>
                </a:lnTo>
                <a:lnTo>
                  <a:pt x="5474" y="7386"/>
                </a:lnTo>
                <a:cubicBezTo>
                  <a:pt x="5984" y="6323"/>
                  <a:pt x="6637" y="4963"/>
                  <a:pt x="7473" y="3222"/>
                </a:cubicBezTo>
                <a:cubicBezTo>
                  <a:pt x="7721" y="2706"/>
                  <a:pt x="8168" y="2389"/>
                  <a:pt x="8664" y="2389"/>
                </a:cubicBezTo>
                <a:close/>
                <a:moveTo>
                  <a:pt x="5475" y="0"/>
                </a:moveTo>
                <a:cubicBezTo>
                  <a:pt x="5475" y="0"/>
                  <a:pt x="5475" y="0"/>
                  <a:pt x="8692" y="0"/>
                </a:cubicBezTo>
                <a:cubicBezTo>
                  <a:pt x="8893" y="0"/>
                  <a:pt x="9088" y="133"/>
                  <a:pt x="9185" y="350"/>
                </a:cubicBezTo>
                <a:cubicBezTo>
                  <a:pt x="9185" y="350"/>
                  <a:pt x="9185" y="350"/>
                  <a:pt x="10050" y="2143"/>
                </a:cubicBezTo>
                <a:lnTo>
                  <a:pt x="10147" y="2345"/>
                </a:lnTo>
                <a:lnTo>
                  <a:pt x="9707" y="2345"/>
                </a:lnTo>
                <a:lnTo>
                  <a:pt x="9550" y="2018"/>
                </a:lnTo>
                <a:cubicBezTo>
                  <a:pt x="8947" y="768"/>
                  <a:pt x="8947" y="768"/>
                  <a:pt x="8947" y="768"/>
                </a:cubicBezTo>
                <a:cubicBezTo>
                  <a:pt x="8860" y="576"/>
                  <a:pt x="8688" y="458"/>
                  <a:pt x="8509" y="458"/>
                </a:cubicBezTo>
                <a:cubicBezTo>
                  <a:pt x="5658" y="458"/>
                  <a:pt x="5658" y="458"/>
                  <a:pt x="5658" y="458"/>
                </a:cubicBezTo>
                <a:cubicBezTo>
                  <a:pt x="5473" y="458"/>
                  <a:pt x="5306" y="576"/>
                  <a:pt x="5214" y="768"/>
                </a:cubicBezTo>
                <a:cubicBezTo>
                  <a:pt x="3791" y="3731"/>
                  <a:pt x="3791" y="3731"/>
                  <a:pt x="3791" y="3731"/>
                </a:cubicBezTo>
                <a:cubicBezTo>
                  <a:pt x="3699" y="3916"/>
                  <a:pt x="3699" y="4152"/>
                  <a:pt x="3791" y="4337"/>
                </a:cubicBezTo>
                <a:cubicBezTo>
                  <a:pt x="5214" y="7300"/>
                  <a:pt x="5214" y="7300"/>
                  <a:pt x="5214" y="7300"/>
                </a:cubicBezTo>
                <a:cubicBezTo>
                  <a:pt x="5260" y="7396"/>
                  <a:pt x="5325" y="7474"/>
                  <a:pt x="5401" y="7527"/>
                </a:cubicBezTo>
                <a:lnTo>
                  <a:pt x="5423" y="7538"/>
                </a:lnTo>
                <a:lnTo>
                  <a:pt x="5307" y="7780"/>
                </a:lnTo>
                <a:lnTo>
                  <a:pt x="5220" y="7960"/>
                </a:lnTo>
                <a:lnTo>
                  <a:pt x="5310" y="8005"/>
                </a:lnTo>
                <a:cubicBezTo>
                  <a:pt x="5358" y="8021"/>
                  <a:pt x="5409" y="8029"/>
                  <a:pt x="5461" y="8029"/>
                </a:cubicBezTo>
                <a:cubicBezTo>
                  <a:pt x="8678" y="8029"/>
                  <a:pt x="8678" y="8029"/>
                  <a:pt x="8678" y="8029"/>
                </a:cubicBezTo>
                <a:cubicBezTo>
                  <a:pt x="8880" y="8029"/>
                  <a:pt x="9074" y="7896"/>
                  <a:pt x="9172" y="7679"/>
                </a:cubicBezTo>
                <a:cubicBezTo>
                  <a:pt x="10783" y="4337"/>
                  <a:pt x="10783" y="4337"/>
                  <a:pt x="10783" y="4337"/>
                </a:cubicBezTo>
                <a:cubicBezTo>
                  <a:pt x="10888" y="4128"/>
                  <a:pt x="10888" y="3862"/>
                  <a:pt x="10783" y="3653"/>
                </a:cubicBezTo>
                <a:cubicBezTo>
                  <a:pt x="10582" y="3235"/>
                  <a:pt x="10406" y="2870"/>
                  <a:pt x="10251" y="2550"/>
                </a:cubicBezTo>
                <a:lnTo>
                  <a:pt x="10173" y="2389"/>
                </a:lnTo>
                <a:lnTo>
                  <a:pt x="10534" y="2389"/>
                </a:lnTo>
                <a:cubicBezTo>
                  <a:pt x="11656" y="2389"/>
                  <a:pt x="13452" y="2389"/>
                  <a:pt x="16324" y="2389"/>
                </a:cubicBezTo>
                <a:cubicBezTo>
                  <a:pt x="16804" y="2389"/>
                  <a:pt x="17267" y="2706"/>
                  <a:pt x="17499" y="3222"/>
                </a:cubicBezTo>
                <a:cubicBezTo>
                  <a:pt x="17499" y="3222"/>
                  <a:pt x="17499" y="3222"/>
                  <a:pt x="21337" y="11181"/>
                </a:cubicBezTo>
                <a:cubicBezTo>
                  <a:pt x="21585" y="11677"/>
                  <a:pt x="21585" y="12312"/>
                  <a:pt x="21337" y="12808"/>
                </a:cubicBezTo>
                <a:cubicBezTo>
                  <a:pt x="21337" y="12808"/>
                  <a:pt x="21337" y="12808"/>
                  <a:pt x="17499" y="20766"/>
                </a:cubicBezTo>
                <a:cubicBezTo>
                  <a:pt x="17267" y="21282"/>
                  <a:pt x="16804" y="21600"/>
                  <a:pt x="16324" y="21600"/>
                </a:cubicBezTo>
                <a:cubicBezTo>
                  <a:pt x="16324" y="21600"/>
                  <a:pt x="16324" y="21600"/>
                  <a:pt x="8664" y="21600"/>
                </a:cubicBezTo>
                <a:cubicBezTo>
                  <a:pt x="8168" y="21600"/>
                  <a:pt x="7721" y="21282"/>
                  <a:pt x="7473" y="20766"/>
                </a:cubicBezTo>
                <a:cubicBezTo>
                  <a:pt x="7473" y="20766"/>
                  <a:pt x="7473" y="20766"/>
                  <a:pt x="3651" y="12808"/>
                </a:cubicBezTo>
                <a:cubicBezTo>
                  <a:pt x="3403" y="12312"/>
                  <a:pt x="3403" y="11677"/>
                  <a:pt x="3651" y="11181"/>
                </a:cubicBezTo>
                <a:cubicBezTo>
                  <a:pt x="3651" y="11181"/>
                  <a:pt x="3651" y="11181"/>
                  <a:pt x="5070" y="8226"/>
                </a:cubicBezTo>
                <a:lnTo>
                  <a:pt x="5190" y="7976"/>
                </a:lnTo>
                <a:lnTo>
                  <a:pt x="5186" y="7974"/>
                </a:lnTo>
                <a:cubicBezTo>
                  <a:pt x="5100" y="7914"/>
                  <a:pt x="5027" y="7826"/>
                  <a:pt x="4975" y="7718"/>
                </a:cubicBezTo>
                <a:cubicBezTo>
                  <a:pt x="4975" y="7718"/>
                  <a:pt x="4975" y="7718"/>
                  <a:pt x="3370" y="4376"/>
                </a:cubicBezTo>
                <a:cubicBezTo>
                  <a:pt x="3266" y="4167"/>
                  <a:pt x="3266" y="3901"/>
                  <a:pt x="3370" y="3692"/>
                </a:cubicBezTo>
                <a:cubicBezTo>
                  <a:pt x="3370" y="3692"/>
                  <a:pt x="3370" y="3692"/>
                  <a:pt x="4975" y="350"/>
                </a:cubicBezTo>
                <a:cubicBezTo>
                  <a:pt x="5079" y="133"/>
                  <a:pt x="5267" y="0"/>
                  <a:pt x="5475" y="0"/>
                </a:cubicBezTo>
                <a:close/>
              </a:path>
            </a:pathLst>
          </a:custGeom>
          <a:solidFill>
            <a:srgbClr val="808080">
              <a:alpha val="15000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pic>
        <p:nvPicPr>
          <p:cNvPr id="96" name="Picture 4" descr="Picture 4"/>
          <p:cNvPicPr>
            <a:picLocks noChangeAspect="1"/>
          </p:cNvPicPr>
          <p:nvPr/>
        </p:nvPicPr>
        <p:blipFill>
          <a:blip r:embed="rId2">
            <a:extLst/>
          </a:blip>
          <a:srcRect l="0" t="0" r="59916" b="0"/>
          <a:stretch>
            <a:fillRect/>
          </a:stretch>
        </p:blipFill>
        <p:spPr>
          <a:xfrm>
            <a:off x="8585200" y="1715880"/>
            <a:ext cx="3203510" cy="3426238"/>
          </a:xfrm>
          <a:prstGeom prst="rect">
            <a:avLst/>
          </a:prstGeom>
          <a:ln w="12700">
            <a:miter lim="400000"/>
          </a:ln>
        </p:spPr>
      </p:pic>
      <p:sp>
        <p:nvSpPr>
          <p:cNvPr id="97" name="Subtitle 3"/>
          <p:cNvSpPr txBox="1"/>
          <p:nvPr>
            <p:ph type="subTitle" sz="quarter" idx="1"/>
          </p:nvPr>
        </p:nvSpPr>
        <p:spPr>
          <a:xfrm>
            <a:off x="1245685" y="366446"/>
            <a:ext cx="8534401" cy="1752601"/>
          </a:xfrm>
          <a:prstGeom prst="rect">
            <a:avLst/>
          </a:prstGeom>
        </p:spPr>
        <p:txBody>
          <a:bodyPr/>
          <a:lstStyle/>
          <a:p>
            <a:pPr>
              <a:defRPr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</a:p>
          <a:p>
            <a:pPr>
              <a:defRPr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TITLE PAGE</a:t>
            </a:r>
          </a:p>
        </p:txBody>
      </p:sp>
      <p:sp>
        <p:nvSpPr>
          <p:cNvPr id="98" name="Title 7"/>
          <p:cNvSpPr txBox="1"/>
          <p:nvPr>
            <p:ph type="ctrTitle"/>
          </p:nvPr>
        </p:nvSpPr>
        <p:spPr>
          <a:xfrm>
            <a:off x="331286" y="-505557"/>
            <a:ext cx="10363201" cy="2076451"/>
          </a:xfrm>
          <a:prstGeom prst="rect">
            <a:avLst/>
          </a:prstGeom>
        </p:spPr>
        <p:txBody>
          <a:bodyPr/>
          <a:lstStyle>
            <a:lvl1pPr>
              <a:defRPr b="1" sz="4000">
                <a:solidFill>
                  <a:srgbClr val="1F497D"/>
                </a:solidFill>
                <a:latin typeface="Garamond"/>
                <a:ea typeface="Garamond"/>
                <a:cs typeface="Garamond"/>
                <a:sym typeface="Garamond"/>
              </a:defRPr>
            </a:lvl1pPr>
          </a:lstStyle>
          <a:p>
            <a:pPr/>
            <a:r>
              <a:t>SMART INDIA HACKATHON 2026</a:t>
            </a:r>
          </a:p>
        </p:txBody>
      </p:sp>
      <p:sp>
        <p:nvSpPr>
          <p:cNvPr id="99" name="TextBox 9"/>
          <p:cNvSpPr txBox="1"/>
          <p:nvPr/>
        </p:nvSpPr>
        <p:spPr>
          <a:xfrm>
            <a:off x="12539" y="1429815"/>
            <a:ext cx="8182611" cy="52634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/>
          </a:p>
          <a:p>
            <a:pPr marL="285750" indent="-285750" algn="just">
              <a:lnSpc>
                <a:spcPct val="200000"/>
              </a:lnSpc>
              <a:buSzPct val="100000"/>
              <a:buFont typeface="Arial"/>
              <a:buChar char="•"/>
              <a:defRPr b="1" sz="2200">
                <a:latin typeface="Arial"/>
                <a:ea typeface="Arial"/>
                <a:cs typeface="Arial"/>
                <a:sym typeface="Arial"/>
              </a:defRPr>
            </a:pPr>
            <a:r>
              <a:t>Problem Statement ID – </a:t>
            </a:r>
            <a:r>
              <a:rPr b="0"/>
              <a:t>26102</a:t>
            </a:r>
            <a:endParaRPr b="0"/>
          </a:p>
          <a:p>
            <a:pPr marL="285750" indent="-285750" algn="just">
              <a:lnSpc>
                <a:spcPct val="200000"/>
              </a:lnSpc>
              <a:buSzPct val="100000"/>
              <a:buFont typeface="Arial"/>
              <a:buChar char="•"/>
              <a:defRPr b="1" sz="2200">
                <a:latin typeface="Arial"/>
                <a:ea typeface="Arial"/>
                <a:cs typeface="Arial"/>
                <a:sym typeface="Arial"/>
              </a:defRPr>
            </a:pPr>
            <a:r>
              <a:t>Problem Statement Title- </a:t>
            </a:r>
            <a:r>
              <a:rPr b="0"/>
              <a:t>Development of an AI-powered system to detect anomalies, fraud, and inefficiencies in MPLAD Scheme implementation regd.</a:t>
            </a:r>
          </a:p>
          <a:p>
            <a:pPr marL="285750" indent="-285750" algn="just">
              <a:lnSpc>
                <a:spcPct val="200000"/>
              </a:lnSpc>
              <a:buSzPct val="100000"/>
              <a:buFont typeface="Arial"/>
              <a:buChar char="•"/>
              <a:defRPr b="1" sz="2200">
                <a:latin typeface="Arial"/>
                <a:ea typeface="Arial"/>
                <a:cs typeface="Arial"/>
                <a:sym typeface="Arial"/>
              </a:defRPr>
            </a:pPr>
            <a:r>
              <a:t>Theme- </a:t>
            </a:r>
            <a:r>
              <a:rPr b="0"/>
              <a:t>Smart Automation</a:t>
            </a:r>
          </a:p>
          <a:p>
            <a:pPr marL="285750" indent="-285750" algn="just">
              <a:lnSpc>
                <a:spcPct val="200000"/>
              </a:lnSpc>
              <a:buSzPct val="100000"/>
              <a:buFont typeface="Arial"/>
              <a:buChar char="•"/>
              <a:defRPr b="1" sz="2200">
                <a:latin typeface="Arial"/>
                <a:ea typeface="Arial"/>
                <a:cs typeface="Arial"/>
                <a:sym typeface="Arial"/>
              </a:defRPr>
            </a:pPr>
            <a:r>
              <a:t>PS Category- </a:t>
            </a:r>
            <a:r>
              <a:rPr b="0"/>
              <a:t>Software</a:t>
            </a:r>
          </a:p>
          <a:p>
            <a:pPr marL="285750" indent="-285750" algn="just">
              <a:lnSpc>
                <a:spcPct val="200000"/>
              </a:lnSpc>
              <a:buSzPct val="100000"/>
              <a:buFont typeface="Arial"/>
              <a:buChar char="•"/>
              <a:defRPr b="1" sz="2200">
                <a:latin typeface="Arial"/>
                <a:ea typeface="Arial"/>
                <a:cs typeface="Arial"/>
                <a:sym typeface="Arial"/>
              </a:defRPr>
            </a:pPr>
            <a:r>
              <a:t>Team ID- </a:t>
            </a:r>
          </a:p>
          <a:p>
            <a:pPr marL="285750" indent="-285750" algn="just">
              <a:lnSpc>
                <a:spcPct val="200000"/>
              </a:lnSpc>
              <a:buSzPct val="100000"/>
              <a:buFont typeface="Arial"/>
              <a:buChar char="•"/>
              <a:defRPr b="1" sz="2200">
                <a:latin typeface="Arial"/>
                <a:ea typeface="Arial"/>
                <a:cs typeface="Arial"/>
                <a:sym typeface="Arial"/>
              </a:defRPr>
            </a:pPr>
            <a:r>
              <a:t>Team Name - </a:t>
            </a:r>
            <a:r>
              <a:rPr b="0"/>
              <a:t>sns</a:t>
            </a:r>
          </a:p>
        </p:txBody>
      </p:sp>
      <p:pic>
        <p:nvPicPr>
          <p:cNvPr id="100" name="Picture 1" descr="Picture 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9780085" y="1500"/>
            <a:ext cx="2249852" cy="1062337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Footer Placeholder 6"/>
          <p:cNvSpPr txBox="1"/>
          <p:nvPr/>
        </p:nvSpPr>
        <p:spPr>
          <a:xfrm>
            <a:off x="4693920" y="6404295"/>
            <a:ext cx="3112561" cy="26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200">
                <a:solidFill>
                  <a:srgbClr val="FFFFFF"/>
                </a:solidFill>
                <a:latin typeface="TradeGothic"/>
                <a:ea typeface="TradeGothic"/>
                <a:cs typeface="TradeGothic"/>
                <a:sym typeface="TradeGothic"/>
              </a:defRPr>
            </a:lvl1pPr>
          </a:lstStyle>
          <a:p>
            <a:pPr/>
            <a:r>
              <a:t>@SIH Idea submission- Template</a:t>
            </a:r>
          </a:p>
        </p:txBody>
      </p:sp>
      <p:sp>
        <p:nvSpPr>
          <p:cNvPr id="103" name="Rectangle 8"/>
          <p:cNvSpPr/>
          <p:nvPr/>
        </p:nvSpPr>
        <p:spPr>
          <a:xfrm>
            <a:off x="-1" y="6354762"/>
            <a:ext cx="12192001" cy="503239"/>
          </a:xfrm>
          <a:prstGeom prst="rect">
            <a:avLst/>
          </a:prstGeom>
          <a:solidFill>
            <a:srgbClr val="0070C0"/>
          </a:solidFill>
          <a:ln w="12700">
            <a:miter lim="400000"/>
          </a:ln>
          <a:effectLst>
            <a:outerShdw sx="100000" sy="100000" kx="0" ky="0" algn="b" rotWithShape="0" blurRad="0" dist="23000" dir="5400000">
              <a:srgbClr val="808080">
                <a:alpha val="34999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953735"/>
                </a:solidFill>
              </a:defRPr>
            </a:pPr>
          </a:p>
        </p:txBody>
      </p:sp>
      <p:sp>
        <p:nvSpPr>
          <p:cNvPr id="104" name="Title 1"/>
          <p:cNvSpPr txBox="1"/>
          <p:nvPr>
            <p:ph type="title"/>
          </p:nvPr>
        </p:nvSpPr>
        <p:spPr>
          <a:xfrm>
            <a:off x="265296" y="-305682"/>
            <a:ext cx="10972801" cy="1143001"/>
          </a:xfrm>
          <a:prstGeom prst="rect">
            <a:avLst/>
          </a:prstGeom>
        </p:spPr>
        <p:txBody>
          <a:bodyPr/>
          <a:lstStyle/>
          <a:p>
            <a:pPr>
              <a:defRPr b="1" sz="3600">
                <a:latin typeface="Times New Roman"/>
                <a:ea typeface="Times New Roman"/>
                <a:cs typeface="Times New Roman"/>
                <a:sym typeface="Times New Roman"/>
              </a:defRPr>
            </a:pPr>
            <a:br/>
            <a:r>
              <a:t>Smart Nigrani System</a:t>
            </a:r>
          </a:p>
        </p:txBody>
      </p:sp>
      <p:sp>
        <p:nvSpPr>
          <p:cNvPr id="105" name="TextBox 8"/>
          <p:cNvSpPr txBox="1"/>
          <p:nvPr/>
        </p:nvSpPr>
        <p:spPr>
          <a:xfrm>
            <a:off x="256032" y="950976"/>
            <a:ext cx="6537960" cy="90572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buNone/>
            </a:pPr>
            <a:r>
              <a:rPr lang="en-US" sz="1500" b="1" dirty="0">
                <a:latin typeface="Times Roman"/>
                <a:ea typeface="Times Roman"/>
                <a:cs typeface="Times Roman"/>
                <a:sym typeface="Times Roman"/>
              </a:rPr>
              <a:t>Proposed Solution: </a:t>
            </a:r>
            <a:r>
              <a:rPr lang="en-US" sz="1500" b="0" dirty="0">
                <a:latin typeface="Times Roman"/>
                <a:ea typeface="Times Roman"/>
                <a:cs typeface="Times Roman"/>
                <a:sym typeface="Times Roman"/>
              </a:rPr>
              <a:t>Smart Nigrani System, one screen that shows which public works need checking</a:t>
            </a:r>
            <a:endParaRPr lang="en-US" sz="1500">
              <a:latin typeface="Times Roman"/>
              <a:ea typeface="Times Roman"/>
              <a:cs typeface="Times Roman"/>
              <a:sym typeface="Times Roman"/>
            </a:endParaRPr>
          </a:p>
        </p:txBody>
      </p:sp>
      <p:sp>
        <p:nvSpPr>
          <p:cNvPr id="106" name="Slide Number Placeholder 5"/>
          <p:cNvSpPr txBox="1"/>
          <p:nvPr>
            <p:ph type="sldNum" sz="quarter" idx="2"/>
          </p:nvPr>
        </p:nvSpPr>
        <p:spPr>
          <a:xfrm>
            <a:off x="11393502" y="6404295"/>
            <a:ext cx="188898" cy="26924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>
              <a:defRPr b="1"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  <p:grpSp>
        <p:nvGrpSpPr>
          <p:cNvPr id="109" name="Oval 9"/>
          <p:cNvGrpSpPr/>
          <p:nvPr/>
        </p:nvGrpSpPr>
        <p:grpSpPr>
          <a:xfrm>
            <a:off x="38100" y="63500"/>
            <a:ext cx="1251858" cy="807335"/>
            <a:chOff x="0" y="0"/>
            <a:chExt cx="1251857" cy="807334"/>
          </a:xfrm>
        </p:grpSpPr>
        <p:sp>
          <p:nvSpPr>
            <p:cNvPr id="107" name="Oval"/>
            <p:cNvSpPr/>
            <p:nvPr/>
          </p:nvSpPr>
          <p:spPr>
            <a:xfrm>
              <a:off x="0" y="0"/>
              <a:ext cx="1251858" cy="807335"/>
            </a:xfrm>
            <a:prstGeom prst="ellipse">
              <a:avLst/>
            </a:prstGeom>
            <a:solidFill>
              <a:srgbClr val="FFFFFF"/>
            </a:solidFill>
            <a:ln w="25400" cap="flat">
              <a:solidFill>
                <a:schemeClr val="accent4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/>
            </a:p>
          </p:txBody>
        </p:sp>
        <p:sp>
          <p:nvSpPr>
            <p:cNvPr id="108" name="sns"/>
            <p:cNvSpPr/>
            <p:nvPr/>
          </p:nvSpPr>
          <p:spPr>
            <a:xfrm>
              <a:off x="241749" y="403666"/>
              <a:ext cx="768358" cy="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0" fill="norm" stroke="1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/>
            </a:lstStyle>
            <a:p>
              <a:pPr/>
              <a:r>
                <a:t>sns</a:t>
              </a:r>
            </a:p>
          </p:txBody>
        </p:sp>
      </p:grpSp>
      <p:pic>
        <p:nvPicPr>
          <p:cNvPr id="110" name="Picture 10" descr="Picture 1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9780085" y="1500"/>
            <a:ext cx="2249852" cy="1062337"/>
          </a:xfrm>
          <a:prstGeom prst="rect">
            <a:avLst/>
          </a:prstGeom>
          <a:ln w="12700">
            <a:miter lim="400000"/>
          </a:ln>
        </p:spPr>
      </p:pic>
      <p:sp>
        <p:nvSpPr>
          <p:cNvPr id="111" name="Analyzes: Sanctions, expenditure, cost estimates, work progress &amp; payments…"/>
          <p:cNvSpPr txBox="1"/>
          <p:nvPr/>
        </p:nvSpPr>
        <p:spPr>
          <a:xfrm>
            <a:off x="256032" y="1847088"/>
            <a:ext cx="6537960" cy="4282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spcBef>
                <a:spcPts val="936"/>
              </a:spcBef>
              <a:buNone/>
              <a:defRPr b="1" sz="13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lang="en-US" sz="1300" b="1" dirty="0">
                <a:latin typeface="Times Roman"/>
                <a:ea typeface="Times Roman"/>
                <a:cs typeface="Times Roman"/>
                <a:sym typeface="Times Roman"/>
              </a:rPr>
              <a:t>What it does</a:t>
            </a:r>
            <a:endParaRPr lang="en-US" sz="1300" b="1">
              <a:latin typeface="Times Roman"/>
              <a:ea typeface="Times Roman"/>
              <a:cs typeface="Times Roman"/>
              <a:sym typeface="Times Roman"/>
            </a:endParaRPr>
          </a:p>
          <a:p>
            <a:pPr marL="457200" indent="-317500">
              <a:spcBef>
                <a:spcPts val="192"/>
              </a:spcBef>
              <a:buSzPct val="100000"/>
              <a:buFont typeface="Times Roman"/>
              <a:buChar char="•"/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lang="en-US" sz="1200" b="1" dirty="0">
                <a:latin typeface="Times Roman"/>
                <a:ea typeface="Times Roman"/>
                <a:cs typeface="Times Roman"/>
                <a:sym typeface="Times Roman"/>
              </a:rPr>
              <a:t>Reads the records:</a:t>
            </a:r>
            <a:r>
              <a:rPr lang="en-US" sz="1200" b="0" dirty="0">
                <a:latin typeface="Times Roman"/>
                <a:ea typeface="Times Roman"/>
                <a:cs typeface="Times Roman"/>
                <a:sym typeface="Times Roman"/>
              </a:rPr>
              <a:t> It takes the MPLADS files the government already publishes and puts them all in one place.</a:t>
            </a:r>
            <a:endParaRPr lang="en-US" sz="1200">
              <a:latin typeface="Times Roman"/>
              <a:ea typeface="Times Roman"/>
              <a:cs typeface="Times Roman"/>
              <a:sym typeface="Times Roman"/>
            </a:endParaRPr>
          </a:p>
          <a:p>
            <a:pPr marL="457200" indent="-317500">
              <a:spcBef>
                <a:spcPts val="192"/>
              </a:spcBef>
              <a:buSzPct val="100000"/>
              <a:buFont typeface="Times Roman"/>
              <a:buChar char="•"/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lang="en-US" sz="1200" b="1" dirty="0">
                <a:latin typeface="Times Roman"/>
                <a:ea typeface="Times Roman"/>
                <a:cs typeface="Times Roman"/>
                <a:sym typeface="Times Roman"/>
              </a:rPr>
              <a:t>Runs four checks:</a:t>
            </a:r>
            <a:r>
              <a:rPr lang="en-US" sz="1200" b="0" dirty="0">
                <a:latin typeface="Times Roman"/>
                <a:ea typeface="Times Roman"/>
                <a:cs typeface="Times Roman"/>
                <a:sym typeface="Times Roman"/>
              </a:rPr>
              <a:t> Is the cost normal, has the same work been entered twice, is it taking too long, has the money moved ahead of the work.</a:t>
            </a:r>
            <a:endParaRPr lang="en-US" sz="1200">
              <a:latin typeface="Times Roman"/>
              <a:ea typeface="Times Roman"/>
              <a:cs typeface="Times Roman"/>
              <a:sym typeface="Times Roman"/>
            </a:endParaRPr>
          </a:p>
          <a:p>
            <a:pPr marL="457200" indent="-317500">
              <a:spcBef>
                <a:spcPts val="192"/>
              </a:spcBef>
              <a:buSzPct val="100000"/>
              <a:buFont typeface="Times Roman"/>
              <a:buChar char="•"/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lang="en-US" sz="1200" b="1" dirty="0">
                <a:latin typeface="Times Roman"/>
                <a:ea typeface="Times Roman"/>
                <a:cs typeface="Times Roman"/>
                <a:sym typeface="Times Roman"/>
              </a:rPr>
              <a:t>Ranks the list:</a:t>
            </a:r>
            <a:r>
              <a:rPr lang="en-US" sz="1200" b="0" dirty="0">
                <a:latin typeface="Times Roman"/>
                <a:ea typeface="Times Roman"/>
                <a:cs typeface="Times Roman"/>
                <a:sym typeface="Times Roman"/>
              </a:rPr>
              <a:t> Every work gets a number out of 100, and the ones that need a look sit at the top.</a:t>
            </a:r>
            <a:endParaRPr lang="en-US" sz="1200">
              <a:latin typeface="Times Roman"/>
              <a:ea typeface="Times Roman"/>
              <a:cs typeface="Times Roman"/>
              <a:sym typeface="Times Roman"/>
            </a:endParaRPr>
          </a:p>
          <a:p>
            <a:pPr marL="457200" indent="-317500">
              <a:spcBef>
                <a:spcPts val="192"/>
              </a:spcBef>
              <a:buSzPct val="100000"/>
              <a:buFont typeface="Times Roman"/>
              <a:buChar char="•"/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lang="en-US" sz="1200" b="1" dirty="0">
                <a:latin typeface="Times Roman"/>
                <a:ea typeface="Times Roman"/>
                <a:cs typeface="Times Roman"/>
                <a:sym typeface="Times Roman"/>
              </a:rPr>
              <a:t>Says why:</a:t>
            </a:r>
            <a:r>
              <a:rPr lang="en-US" sz="1200" b="0" dirty="0">
                <a:latin typeface="Times Roman"/>
                <a:ea typeface="Times Roman"/>
                <a:cs typeface="Times Roman"/>
                <a:sym typeface="Times Roman"/>
              </a:rPr>
              <a:t> Each flag comes with a plain sentence. Nothing is hidden inside a black box.</a:t>
            </a:r>
            <a:endParaRPr lang="en-US" sz="1200">
              <a:latin typeface="Times Roman"/>
              <a:ea typeface="Times Roman"/>
              <a:cs typeface="Times Roman"/>
              <a:sym typeface="Times Roman"/>
            </a:endParaRPr>
          </a:p>
          <a:p>
            <a:pPr>
              <a:buNone/>
              <a:defRPr sz="660">
                <a:latin typeface="Times Roman"/>
                <a:ea typeface="Times Roman"/>
                <a:cs typeface="Times Roman"/>
                <a:sym typeface="Times Roman"/>
              </a:defRPr>
            </a:pPr>
            <a:endParaRPr lang="en-US" sz="660">
              <a:latin typeface="Times Roman"/>
              <a:ea typeface="Times Roman"/>
              <a:cs typeface="Times Roman"/>
              <a:sym typeface="Times Roman"/>
            </a:endParaRPr>
          </a:p>
          <a:p>
            <a:pPr>
              <a:spcBef>
                <a:spcPts val="936"/>
              </a:spcBef>
              <a:buNone/>
              <a:defRPr b="1" sz="13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lang="en-US" sz="1300" b="1" dirty="0">
                <a:latin typeface="Times Roman"/>
                <a:ea typeface="Times Roman"/>
                <a:cs typeface="Times Roman"/>
                <a:sym typeface="Times Roman"/>
              </a:rPr>
              <a:t>Who uses it</a:t>
            </a:r>
            <a:endParaRPr lang="en-US" sz="1300" b="1">
              <a:latin typeface="Times Roman"/>
              <a:ea typeface="Times Roman"/>
              <a:cs typeface="Times Roman"/>
              <a:sym typeface="Times Roman"/>
            </a:endParaRPr>
          </a:p>
          <a:p>
            <a:pPr marL="457200" indent="-317500">
              <a:spcBef>
                <a:spcPts val="192"/>
              </a:spcBef>
              <a:buSzPct val="100000"/>
              <a:buFont typeface="Times Roman"/>
              <a:buChar char="•"/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lang="en-US" sz="1200" b="1" dirty="0">
                <a:latin typeface="Times Roman"/>
                <a:ea typeface="Times Roman"/>
                <a:cs typeface="Times Roman"/>
                <a:sym typeface="Times Roman"/>
              </a:rPr>
              <a:t>Member of Parliament:</a:t>
            </a:r>
            <a:r>
              <a:rPr lang="en-US" sz="1200" b="0" dirty="0">
                <a:latin typeface="Times Roman"/>
                <a:ea typeface="Times Roman"/>
                <a:cs typeface="Times Roman"/>
                <a:sym typeface="Times Roman"/>
              </a:rPr>
              <a:t> sees every work in their constituency, on a map and in a ranked list.</a:t>
            </a:r>
            <a:endParaRPr lang="en-US" sz="1200">
              <a:latin typeface="Times Roman"/>
              <a:ea typeface="Times Roman"/>
              <a:cs typeface="Times Roman"/>
              <a:sym typeface="Times Roman"/>
            </a:endParaRPr>
          </a:p>
          <a:p>
            <a:pPr marL="457200" indent="-317500">
              <a:spcBef>
                <a:spcPts val="192"/>
              </a:spcBef>
              <a:buSzPct val="100000"/>
              <a:buFont typeface="Times Roman"/>
              <a:buChar char="•"/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lang="en-US" sz="1200" b="1" dirty="0">
                <a:latin typeface="Times Roman"/>
                <a:ea typeface="Times Roman"/>
                <a:cs typeface="Times Roman"/>
                <a:sym typeface="Times Roman"/>
              </a:rPr>
              <a:t>Contractor:</a:t>
            </a:r>
            <a:r>
              <a:rPr lang="en-US" sz="1200" b="0" dirty="0">
                <a:latin typeface="Times Roman"/>
                <a:ea typeface="Times Roman"/>
                <a:cs typeface="Times Roman"/>
                <a:sym typeface="Times Roman"/>
              </a:rPr>
              <a:t> sees only their own projects and adds each piece of work with its cost and date.</a:t>
            </a:r>
            <a:endParaRPr lang="en-US" sz="1200">
              <a:latin typeface="Times Roman"/>
              <a:ea typeface="Times Roman"/>
              <a:cs typeface="Times Roman"/>
              <a:sym typeface="Times Roman"/>
            </a:endParaRPr>
          </a:p>
          <a:p>
            <a:pPr>
              <a:buNone/>
              <a:defRPr sz="660">
                <a:latin typeface="Times Roman"/>
                <a:ea typeface="Times Roman"/>
                <a:cs typeface="Times Roman"/>
                <a:sym typeface="Times Roman"/>
              </a:defRPr>
            </a:pPr>
            <a:endParaRPr lang="en-US" sz="660">
              <a:latin typeface="Times Roman"/>
              <a:ea typeface="Times Roman"/>
              <a:cs typeface="Times Roman"/>
              <a:sym typeface="Times Roman"/>
            </a:endParaRPr>
          </a:p>
          <a:p>
            <a:pPr>
              <a:spcBef>
                <a:spcPts val="936"/>
              </a:spcBef>
              <a:buNone/>
              <a:defRPr b="1" sz="13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lang="en-US" sz="1300" b="1" dirty="0">
                <a:latin typeface="Times Roman"/>
                <a:ea typeface="Times Roman"/>
                <a:cs typeface="Times Roman"/>
                <a:sym typeface="Times Roman"/>
              </a:rPr>
              <a:t>Running on real data today</a:t>
            </a:r>
            <a:endParaRPr lang="en-US" sz="1300" b="1">
              <a:latin typeface="Times Roman"/>
              <a:ea typeface="Times Roman"/>
              <a:cs typeface="Times Roman"/>
              <a:sym typeface="Times Roman"/>
            </a:endParaRPr>
          </a:p>
          <a:p>
            <a:pPr marL="457200" indent="-317500">
              <a:spcBef>
                <a:spcPts val="192"/>
              </a:spcBef>
              <a:buSzPct val="100000"/>
              <a:buFont typeface="Times Roman"/>
              <a:buChar char="•"/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lang="en-US" sz="1200" b="0" dirty="0">
                <a:latin typeface="Times Roman"/>
                <a:ea typeface="Times Roman"/>
                <a:cs typeface="Times Roman"/>
                <a:sym typeface="Times Roman"/>
              </a:rPr>
              <a:t>4,807 works, 47 constituencies, 39 districts and Rs. 463 crore of approved money. Nothing on the screen is invented.</a:t>
            </a:r>
            <a:endParaRPr lang="en-US" sz="1200">
              <a:latin typeface="Times Roman"/>
              <a:ea typeface="Times Roman"/>
              <a:cs typeface="Times Roman"/>
              <a:sym typeface="Times Roman"/>
            </a:endParaRPr>
          </a:p>
          <a:p>
            <a:pPr marL="457200" indent="-317500">
              <a:spcBef>
                <a:spcPts val="192"/>
              </a:spcBef>
              <a:buSzPct val="100000"/>
              <a:buFont typeface="Times Roman"/>
              <a:buChar char="•"/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lang="en-US" sz="1200" b="0" dirty="0">
                <a:latin typeface="Times Roman"/>
                <a:ea typeface="Times Roman"/>
                <a:cs typeface="Times Roman"/>
                <a:sym typeface="Times Roman"/>
              </a:rPr>
              <a:t>264 works are flagged: 4 Critical, 74 High and 186 Medium.</a:t>
            </a:r>
            <a:endParaRPr lang="en-US" sz="1200">
              <a:latin typeface="Times Roman"/>
              <a:ea typeface="Times Roman"/>
              <a:cs typeface="Times Roman"/>
              <a:sym typeface="Times Roman"/>
            </a:endParaRPr>
          </a:p>
          <a:p>
            <a:pPr>
              <a:buNone/>
              <a:defRPr sz="660">
                <a:latin typeface="Times Roman"/>
                <a:ea typeface="Times Roman"/>
                <a:cs typeface="Times Roman"/>
                <a:sym typeface="Times Roman"/>
              </a:defRPr>
            </a:pPr>
            <a:endParaRPr lang="en-US" sz="660">
              <a:latin typeface="Times Roman"/>
              <a:ea typeface="Times Roman"/>
              <a:cs typeface="Times Roman"/>
              <a:sym typeface="Times Roman"/>
            </a:endParaRPr>
          </a:p>
          <a:p>
            <a:pPr>
              <a:spcBef>
                <a:spcPts val="936"/>
              </a:spcBef>
              <a:buNone/>
              <a:defRPr b="1" sz="13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lang="en-US" sz="1300" b="1" dirty="0">
                <a:latin typeface="Times Roman"/>
                <a:ea typeface="Times Roman"/>
                <a:cs typeface="Times Roman"/>
                <a:sym typeface="Times Roman"/>
              </a:rPr>
              <a:t>What makes it different</a:t>
            </a:r>
            <a:endParaRPr lang="en-US" sz="1300" b="1">
              <a:latin typeface="Times Roman"/>
              <a:ea typeface="Times Roman"/>
              <a:cs typeface="Times Roman"/>
              <a:sym typeface="Times Roman"/>
            </a:endParaRPr>
          </a:p>
          <a:p>
            <a:pPr marL="457200" indent="-317500">
              <a:spcBef>
                <a:spcPts val="192"/>
              </a:spcBef>
              <a:buSzPct val="100000"/>
              <a:buFont typeface="Times Roman"/>
              <a:buChar char="•"/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lang="en-US" sz="1200" b="0" dirty="0">
                <a:latin typeface="Times Roman"/>
                <a:ea typeface="Times Roman"/>
                <a:cs typeface="Times Roman"/>
                <a:sym typeface="Times Roman"/>
              </a:rPr>
              <a:t>It never claims fraud. It ranks records for a person to check, and it shows its working every single time.</a:t>
            </a:r>
            <a:endParaRPr lang="en-US" sz="1200">
              <a:latin typeface="Times Roman"/>
              <a:ea typeface="Times Roman"/>
              <a:cs typeface="Times Roman"/>
              <a:sym typeface="Times Roman"/>
            </a:endParaRPr>
          </a:p>
        </p:txBody>
      </p:sp>
      <p:pic>
        <p:nvPicPr>
          <p:cNvPr id="112" name="Picture 111" descr="s2-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4594" y="1115568"/>
            <a:ext cx="4427451" cy="2537460"/>
          </a:xfrm>
          <a:prstGeom prst="rect">
            <a:avLst/>
          </a:prstGeom>
        </p:spPr>
      </p:pic>
      <p:pic>
        <p:nvPicPr>
          <p:cNvPr id="113" name="Picture 112" descr="s2-1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04594" y="3735324"/>
            <a:ext cx="4427451" cy="253746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Footer Placeholder 6"/>
          <p:cNvSpPr txBox="1"/>
          <p:nvPr/>
        </p:nvSpPr>
        <p:spPr>
          <a:xfrm>
            <a:off x="4693920" y="6404295"/>
            <a:ext cx="3112561" cy="26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200">
                <a:solidFill>
                  <a:srgbClr val="FFFFFF"/>
                </a:solidFill>
                <a:latin typeface="TradeGothic"/>
                <a:ea typeface="TradeGothic"/>
                <a:cs typeface="TradeGothic"/>
                <a:sym typeface="TradeGothic"/>
              </a:defRPr>
            </a:lvl1pPr>
          </a:lstStyle>
          <a:p>
            <a:pPr/>
            <a:r>
              <a:t>@SIH Idea submission- Template</a:t>
            </a:r>
          </a:p>
        </p:txBody>
      </p:sp>
      <p:sp>
        <p:nvSpPr>
          <p:cNvPr id="115" name="Rectangle 9"/>
          <p:cNvSpPr/>
          <p:nvPr/>
        </p:nvSpPr>
        <p:spPr>
          <a:xfrm>
            <a:off x="-1" y="6354762"/>
            <a:ext cx="12192001" cy="503239"/>
          </a:xfrm>
          <a:prstGeom prst="rect">
            <a:avLst/>
          </a:prstGeom>
          <a:solidFill>
            <a:srgbClr val="0070C0"/>
          </a:solidFill>
          <a:ln w="12700">
            <a:miter lim="400000"/>
          </a:ln>
          <a:effectLst>
            <a:outerShdw sx="100000" sy="100000" kx="0" ky="0" algn="b" rotWithShape="0" blurRad="0" dist="23000" dir="5400000">
              <a:srgbClr val="808080">
                <a:alpha val="34999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953735"/>
                </a:solidFill>
              </a:defRPr>
            </a:pPr>
          </a:p>
        </p:txBody>
      </p:sp>
      <p:sp>
        <p:nvSpPr>
          <p:cNvPr id="116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b="1" sz="36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TECHNICAL APPROACH</a:t>
            </a:r>
          </a:p>
        </p:txBody>
      </p:sp>
      <p:sp>
        <p:nvSpPr>
          <p:cNvPr id="117" name="Slide Number Placeholder 5"/>
          <p:cNvSpPr txBox="1"/>
          <p:nvPr>
            <p:ph type="sldNum" sz="quarter" idx="2"/>
          </p:nvPr>
        </p:nvSpPr>
        <p:spPr>
          <a:xfrm>
            <a:off x="11393502" y="6404295"/>
            <a:ext cx="188898" cy="26924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>
              <a:defRPr b="1"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  <p:grpSp>
        <p:nvGrpSpPr>
          <p:cNvPr id="120" name="Oval 10"/>
          <p:cNvGrpSpPr/>
          <p:nvPr/>
        </p:nvGrpSpPr>
        <p:grpSpPr>
          <a:xfrm>
            <a:off x="38100" y="63499"/>
            <a:ext cx="1251858" cy="807336"/>
            <a:chOff x="0" y="0"/>
            <a:chExt cx="1251857" cy="807334"/>
          </a:xfrm>
        </p:grpSpPr>
        <p:sp>
          <p:nvSpPr>
            <p:cNvPr id="118" name="Oval"/>
            <p:cNvSpPr/>
            <p:nvPr/>
          </p:nvSpPr>
          <p:spPr>
            <a:xfrm>
              <a:off x="0" y="0"/>
              <a:ext cx="1251858" cy="807335"/>
            </a:xfrm>
            <a:prstGeom prst="ellipse">
              <a:avLst/>
            </a:prstGeom>
            <a:solidFill>
              <a:srgbClr val="FFFFFF"/>
            </a:solidFill>
            <a:ln w="25400" cap="flat">
              <a:solidFill>
                <a:schemeClr val="accent4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/>
            </a:p>
          </p:txBody>
        </p:sp>
        <p:sp>
          <p:nvSpPr>
            <p:cNvPr id="119" name="sns"/>
            <p:cNvSpPr/>
            <p:nvPr/>
          </p:nvSpPr>
          <p:spPr>
            <a:xfrm>
              <a:off x="241749" y="403666"/>
              <a:ext cx="768358" cy="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0" fill="norm" stroke="1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/>
            </a:lstStyle>
            <a:p>
              <a:pPr/>
              <a:r>
                <a:t>sns</a:t>
              </a:r>
            </a:p>
          </p:txBody>
        </p:sp>
      </p:grpSp>
      <p:pic>
        <p:nvPicPr>
          <p:cNvPr id="121" name="Picture 11" descr="Picture 1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9780085" y="1500"/>
            <a:ext cx="2249852" cy="1062337"/>
          </a:xfrm>
          <a:prstGeom prst="rect">
            <a:avLst/>
          </a:prstGeom>
          <a:ln w="12700">
            <a:miter lim="400000"/>
          </a:ln>
        </p:spPr>
      </p:pic>
      <p:sp>
        <p:nvSpPr>
          <p:cNvPr id="122" name="Technologies…"/>
          <p:cNvSpPr txBox="1"/>
          <p:nvPr/>
        </p:nvSpPr>
        <p:spPr>
          <a:xfrm>
            <a:off x="256032" y="1005840"/>
            <a:ext cx="6537960" cy="57968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spcBef>
                <a:spcPts val="1044"/>
              </a:spcBef>
              <a:buNone/>
              <a:defRPr b="1" sz="145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lang="en-US" sz="1450" b="1" dirty="0">
                <a:latin typeface="Times Roman"/>
                <a:ea typeface="Times Roman"/>
                <a:cs typeface="Times Roman"/>
                <a:sym typeface="Times Roman"/>
              </a:rPr>
              <a:t>What we built it with</a:t>
            </a:r>
            <a:endParaRPr lang="en-US" sz="1450" b="1">
              <a:latin typeface="Times Roman"/>
              <a:ea typeface="Times Roman"/>
              <a:cs typeface="Times Roman"/>
              <a:sym typeface="Times Roman"/>
            </a:endParaRPr>
          </a:p>
          <a:p>
            <a:pPr marL="457200" indent="-317500">
              <a:spcBef>
                <a:spcPts val="216"/>
              </a:spcBef>
              <a:buSzPct val="100000"/>
              <a:buFont typeface="Times Roman"/>
              <a:buChar char="•"/>
              <a:defRPr sz="135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lang="en-US" sz="1350" b="1" dirty="0">
                <a:latin typeface="Times Roman"/>
                <a:ea typeface="Times Roman"/>
                <a:cs typeface="Times Roman"/>
                <a:sym typeface="Times Roman"/>
              </a:rPr>
              <a:t>Website:</a:t>
            </a:r>
            <a:r>
              <a:rPr lang="en-US" sz="1350" b="0" dirty="0">
                <a:latin typeface="Times Roman"/>
                <a:ea typeface="Times Roman"/>
                <a:cs typeface="Times Roman"/>
                <a:sym typeface="Times Roman"/>
              </a:rPr>
              <a:t> React 19 with TypeScript, built using Vite. Plain CSS, no UI kit.</a:t>
            </a:r>
            <a:endParaRPr lang="en-US" sz="1350">
              <a:latin typeface="Times Roman"/>
              <a:ea typeface="Times Roman"/>
              <a:cs typeface="Times Roman"/>
              <a:sym typeface="Times Roman"/>
            </a:endParaRPr>
          </a:p>
          <a:p>
            <a:pPr marL="457200" indent="-317500">
              <a:spcBef>
                <a:spcPts val="216"/>
              </a:spcBef>
              <a:buSzPct val="100000"/>
              <a:buFont typeface="Times Roman"/>
              <a:buChar char="•"/>
              <a:defRPr sz="135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lang="en-US" sz="1350" b="1" dirty="0">
                <a:latin typeface="Times Roman"/>
                <a:ea typeface="Times Roman"/>
                <a:cs typeface="Times Roman"/>
                <a:sym typeface="Times Roman"/>
              </a:rPr>
              <a:t>Map:</a:t>
            </a:r>
            <a:r>
              <a:rPr lang="en-US" sz="1350" b="0" dirty="0">
                <a:latin typeface="Times Roman"/>
                <a:ea typeface="Times Roman"/>
                <a:cs typeface="Times Roman"/>
                <a:sym typeface="Times Roman"/>
              </a:rPr>
              <a:t> Leaflet with free OpenStreetMap tiles.</a:t>
            </a:r>
            <a:endParaRPr lang="en-US" sz="1350">
              <a:latin typeface="Times Roman"/>
              <a:ea typeface="Times Roman"/>
              <a:cs typeface="Times Roman"/>
              <a:sym typeface="Times Roman"/>
            </a:endParaRPr>
          </a:p>
          <a:p>
            <a:pPr marL="457200" indent="-317500">
              <a:spcBef>
                <a:spcPts val="216"/>
              </a:spcBef>
              <a:buSzPct val="100000"/>
              <a:buFont typeface="Times Roman"/>
              <a:buChar char="•"/>
              <a:defRPr sz="135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lang="en-US" sz="1350" b="1" dirty="0">
                <a:latin typeface="Times Roman"/>
                <a:ea typeface="Times Roman"/>
                <a:cs typeface="Times Roman"/>
                <a:sym typeface="Times Roman"/>
              </a:rPr>
              <a:t>Server:</a:t>
            </a:r>
            <a:r>
              <a:rPr lang="en-US" sz="1350" b="0" dirty="0">
                <a:latin typeface="Times Roman"/>
                <a:ea typeface="Times Roman"/>
                <a:cs typeface="Times Roman"/>
                <a:sym typeface="Times Roman"/>
              </a:rPr>
              <a:t> Python with FastAPI. Five packages listed, and not one of them is a machine learning library.</a:t>
            </a:r>
            <a:endParaRPr lang="en-US" sz="1350">
              <a:latin typeface="Times Roman"/>
              <a:ea typeface="Times Roman"/>
              <a:cs typeface="Times Roman"/>
              <a:sym typeface="Times Roman"/>
            </a:endParaRPr>
          </a:p>
          <a:p>
            <a:pPr marL="457200" indent="-317500">
              <a:spcBef>
                <a:spcPts val="216"/>
              </a:spcBef>
              <a:buSzPct val="100000"/>
              <a:buFont typeface="Times Roman"/>
              <a:buChar char="•"/>
              <a:defRPr sz="135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lang="en-US" sz="1350" b="1" dirty="0">
                <a:latin typeface="Times Roman"/>
                <a:ea typeface="Times Roman"/>
                <a:cs typeface="Times Roman"/>
                <a:sym typeface="Times Roman"/>
              </a:rPr>
              <a:t>Data:</a:t>
            </a:r>
            <a:r>
              <a:rPr lang="en-US" sz="1350" b="0" dirty="0">
                <a:latin typeface="Times Roman"/>
                <a:ea typeface="Times Roman"/>
                <a:cs typeface="Times Roman"/>
                <a:sym typeface="Times Roman"/>
              </a:rPr>
              <a:t> All 4,807 works load from one JSON file. Logins and contractor entries live in SQLite. Supabase holds an exported copy.</a:t>
            </a:r>
            <a:endParaRPr lang="en-US" sz="1350">
              <a:latin typeface="Times Roman"/>
              <a:ea typeface="Times Roman"/>
              <a:cs typeface="Times Roman"/>
              <a:sym typeface="Times Roman"/>
            </a:endParaRPr>
          </a:p>
          <a:p>
            <a:pPr marL="457200" indent="-317500">
              <a:spcBef>
                <a:spcPts val="216"/>
              </a:spcBef>
              <a:buSzPct val="100000"/>
              <a:buFont typeface="Times Roman"/>
              <a:buChar char="•"/>
              <a:defRPr sz="135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lang="en-US" sz="1350" b="1" dirty="0">
                <a:latin typeface="Times Roman"/>
                <a:ea typeface="Times Roman"/>
                <a:cs typeface="Times Roman"/>
                <a:sym typeface="Times Roman"/>
              </a:rPr>
              <a:t>Learning part:</a:t>
            </a:r>
            <a:r>
              <a:rPr lang="en-US" sz="1350" b="0" dirty="0">
                <a:latin typeface="Times Roman"/>
                <a:ea typeface="Times Roman"/>
                <a:cs typeface="Times Roman"/>
                <a:sym typeface="Times Roman"/>
              </a:rPr>
              <a:t> Isolation Forest. Trained once offline with scikit-learn, saved as JSON, then scored inside the server using plain Python.</a:t>
            </a:r>
            <a:endParaRPr lang="en-US" sz="1350">
              <a:latin typeface="Times Roman"/>
              <a:ea typeface="Times Roman"/>
              <a:cs typeface="Times Roman"/>
              <a:sym typeface="Times Roman"/>
            </a:endParaRPr>
          </a:p>
          <a:p>
            <a:pPr marL="457200" indent="-317500">
              <a:spcBef>
                <a:spcPts val="216"/>
              </a:spcBef>
              <a:buSzPct val="100000"/>
              <a:buFont typeface="Times Roman"/>
              <a:buChar char="•"/>
              <a:defRPr sz="135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lang="en-US" sz="1350" b="1" dirty="0">
                <a:latin typeface="Times Roman"/>
                <a:ea typeface="Times Roman"/>
                <a:cs typeface="Times Roman"/>
                <a:sym typeface="Times Roman"/>
              </a:rPr>
              <a:t>Sign in:</a:t>
            </a:r>
            <a:r>
              <a:rPr lang="en-US" sz="1350" b="0" dirty="0">
                <a:latin typeface="Times Roman"/>
                <a:ea typeface="Times Roman"/>
                <a:cs typeface="Times Roman"/>
                <a:sym typeface="Times Roman"/>
              </a:rPr>
              <a:t> Passwords are hashed with PBKDF2 and tokens are signed. Both come from the Python standard library.</a:t>
            </a:r>
            <a:endParaRPr lang="en-US" sz="1350">
              <a:latin typeface="Times Roman"/>
              <a:ea typeface="Times Roman"/>
              <a:cs typeface="Times Roman"/>
              <a:sym typeface="Times Roman"/>
            </a:endParaRPr>
          </a:p>
          <a:p>
            <a:pPr>
              <a:buNone/>
              <a:defRPr sz="742">
                <a:latin typeface="Times Roman"/>
                <a:ea typeface="Times Roman"/>
                <a:cs typeface="Times Roman"/>
                <a:sym typeface="Times Roman"/>
              </a:defRPr>
            </a:pPr>
            <a:endParaRPr lang="en-US" sz="742">
              <a:latin typeface="Times Roman"/>
              <a:ea typeface="Times Roman"/>
              <a:cs typeface="Times Roman"/>
              <a:sym typeface="Times Roman"/>
            </a:endParaRPr>
          </a:p>
          <a:p>
            <a:pPr>
              <a:spcBef>
                <a:spcPts val="1044"/>
              </a:spcBef>
              <a:buNone/>
              <a:defRPr b="1" sz="145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lang="en-US" sz="1450" b="1" dirty="0">
                <a:latin typeface="Times Roman"/>
                <a:ea typeface="Times Roman"/>
                <a:cs typeface="Times Roman"/>
                <a:sym typeface="Times Roman"/>
              </a:rPr>
              <a:t>How it works, step by step</a:t>
            </a:r>
            <a:endParaRPr lang="en-US" sz="1450" b="1">
              <a:latin typeface="Times Roman"/>
              <a:ea typeface="Times Roman"/>
              <a:cs typeface="Times Roman"/>
              <a:sym typeface="Times Roman"/>
            </a:endParaRPr>
          </a:p>
          <a:p>
            <a:pPr marL="457200" indent="-317500">
              <a:spcBef>
                <a:spcPts val="216"/>
              </a:spcBef>
              <a:buNone/>
              <a:defRPr sz="135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lang="en-US" sz="1350" b="1" dirty="0">
                <a:latin typeface="Times Roman"/>
                <a:ea typeface="Times Roman"/>
                <a:cs typeface="Times Roman"/>
                <a:sym typeface="Times Roman"/>
              </a:rPr>
              <a:t>1.</a:t>
            </a:r>
            <a:r>
              <a:rPr lang="en-US" sz="1350" b="0" dirty="0">
                <a:latin typeface="Times Roman"/>
                <a:ea typeface="Times Roman"/>
                <a:cs typeface="Times Roman"/>
                <a:sym typeface="Times Roman"/>
              </a:rPr>
              <a:t> Five government CSV files go in.</a:t>
            </a:r>
            <a:endParaRPr lang="en-US" sz="1350">
              <a:latin typeface="Times Roman"/>
              <a:ea typeface="Times Roman"/>
              <a:cs typeface="Times Roman"/>
              <a:sym typeface="Times Roman"/>
            </a:endParaRPr>
          </a:p>
          <a:p>
            <a:pPr marL="457200" indent="-317500">
              <a:spcBef>
                <a:spcPts val="216"/>
              </a:spcBef>
              <a:buNone/>
              <a:defRPr sz="135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lang="en-US" sz="1350" b="1" dirty="0">
                <a:latin typeface="Times Roman"/>
                <a:ea typeface="Times Roman"/>
                <a:cs typeface="Times Roman"/>
                <a:sym typeface="Times Roman"/>
              </a:rPr>
              <a:t>2.</a:t>
            </a:r>
            <a:r>
              <a:rPr lang="en-US" sz="1350" b="0" dirty="0">
                <a:latin typeface="Times Roman"/>
                <a:ea typeface="Times Roman"/>
                <a:cs typeface="Times Roman"/>
                <a:sym typeface="Times Roman"/>
              </a:rPr>
              <a:t> A script cleans them, joins them on the work ID and writes one JSON file.</a:t>
            </a:r>
            <a:endParaRPr lang="en-US" sz="1350">
              <a:latin typeface="Times Roman"/>
              <a:ea typeface="Times Roman"/>
              <a:cs typeface="Times Roman"/>
              <a:sym typeface="Times Roman"/>
            </a:endParaRPr>
          </a:p>
          <a:p>
            <a:pPr marL="457200" indent="-317500">
              <a:spcBef>
                <a:spcPts val="216"/>
              </a:spcBef>
              <a:buNone/>
              <a:defRPr sz="135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lang="en-US" sz="1350" b="1" dirty="0">
                <a:latin typeface="Times Roman"/>
                <a:ea typeface="Times Roman"/>
                <a:cs typeface="Times Roman"/>
                <a:sym typeface="Times Roman"/>
              </a:rPr>
              <a:t>3.</a:t>
            </a:r>
            <a:r>
              <a:rPr lang="en-US" sz="1350" b="0" dirty="0">
                <a:latin typeface="Times Roman"/>
                <a:ea typeface="Times Roman"/>
                <a:cs typeface="Times Roman"/>
                <a:sym typeface="Times Roman"/>
              </a:rPr>
              <a:t> The four checks score every work out of 100.</a:t>
            </a:r>
            <a:endParaRPr lang="en-US" sz="1350">
              <a:latin typeface="Times Roman"/>
              <a:ea typeface="Times Roman"/>
              <a:cs typeface="Times Roman"/>
              <a:sym typeface="Times Roman"/>
            </a:endParaRPr>
          </a:p>
          <a:p>
            <a:pPr marL="457200" indent="-317500">
              <a:spcBef>
                <a:spcPts val="216"/>
              </a:spcBef>
              <a:buNone/>
              <a:defRPr sz="135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lang="en-US" sz="1350" b="1" dirty="0">
                <a:latin typeface="Times Roman"/>
                <a:ea typeface="Times Roman"/>
                <a:cs typeface="Times Roman"/>
                <a:sym typeface="Times Roman"/>
              </a:rPr>
              <a:t>4.</a:t>
            </a:r>
            <a:r>
              <a:rPr lang="en-US" sz="1350" b="0" dirty="0">
                <a:latin typeface="Times Roman"/>
                <a:ea typeface="Times Roman"/>
                <a:cs typeface="Times Roman"/>
                <a:sym typeface="Times Roman"/>
              </a:rPr>
              <a:t> The four scores are added with weights: cost 30, repeated work 25, time taken 25, money against progress 20. Each check that fires adds 5 more, up to three checks.</a:t>
            </a:r>
            <a:endParaRPr lang="en-US" sz="1350">
              <a:latin typeface="Times Roman"/>
              <a:ea typeface="Times Roman"/>
              <a:cs typeface="Times Roman"/>
              <a:sym typeface="Times Roman"/>
            </a:endParaRPr>
          </a:p>
          <a:p>
            <a:pPr marL="457200" indent="-317500">
              <a:spcBef>
                <a:spcPts val="216"/>
              </a:spcBef>
              <a:buNone/>
              <a:defRPr sz="135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lang="en-US" sz="1350" b="1" dirty="0">
                <a:latin typeface="Times Roman"/>
                <a:ea typeface="Times Roman"/>
                <a:cs typeface="Times Roman"/>
                <a:sym typeface="Times Roman"/>
              </a:rPr>
              <a:t>5.</a:t>
            </a:r>
            <a:r>
              <a:rPr lang="en-US" sz="1350" b="0" dirty="0">
                <a:latin typeface="Times Roman"/>
                <a:ea typeface="Times Roman"/>
                <a:cs typeface="Times Roman"/>
                <a:sym typeface="Times Roman"/>
              </a:rPr>
              <a:t> 75 and above is Critical, 55 to 74 is High, 35 to 54 is Medium, below 35 is Routine.</a:t>
            </a:r>
            <a:endParaRPr lang="en-US" sz="1350">
              <a:latin typeface="Times Roman"/>
              <a:ea typeface="Times Roman"/>
              <a:cs typeface="Times Roman"/>
              <a:sym typeface="Times Roman"/>
            </a:endParaRPr>
          </a:p>
          <a:p>
            <a:pPr marL="457200" indent="-317500">
              <a:spcBef>
                <a:spcPts val="216"/>
              </a:spcBef>
              <a:buNone/>
              <a:defRPr sz="135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lang="en-US" sz="1350" b="1" dirty="0">
                <a:latin typeface="Times Roman"/>
                <a:ea typeface="Times Roman"/>
                <a:cs typeface="Times Roman"/>
                <a:sym typeface="Times Roman"/>
              </a:rPr>
              <a:t>6.</a:t>
            </a:r>
            <a:r>
              <a:rPr lang="en-US" sz="1350" b="0" dirty="0">
                <a:latin typeface="Times Roman"/>
                <a:ea typeface="Times Roman"/>
                <a:cs typeface="Times Roman"/>
                <a:sym typeface="Times Roman"/>
              </a:rPr>
              <a:t> The Isolation Forest gives a separate second opinion. It sits next to the score and is never mixed into it.</a:t>
            </a:r>
            <a:endParaRPr lang="en-US" sz="1350">
              <a:latin typeface="Times Roman"/>
              <a:ea typeface="Times Roman"/>
              <a:cs typeface="Times Roman"/>
              <a:sym typeface="Times Roman"/>
            </a:endParaRPr>
          </a:p>
        </p:txBody>
      </p:sp>
      <p:pic>
        <p:nvPicPr>
          <p:cNvPr id="123" name="Picture 122" descr="s3-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4604" y="1115574"/>
            <a:ext cx="4427430" cy="2537447"/>
          </a:xfrm>
          <a:prstGeom prst="rect">
            <a:avLst/>
          </a:prstGeom>
        </p:spPr>
      </p:pic>
      <p:pic>
        <p:nvPicPr>
          <p:cNvPr id="124" name="Picture 123" descr="s3-1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04604" y="3735317"/>
            <a:ext cx="4427430" cy="253746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Footer Placeholder 6"/>
          <p:cNvSpPr txBox="1"/>
          <p:nvPr/>
        </p:nvSpPr>
        <p:spPr>
          <a:xfrm>
            <a:off x="4693920" y="6404295"/>
            <a:ext cx="3112561" cy="26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200">
                <a:solidFill>
                  <a:srgbClr val="FFFFFF"/>
                </a:solidFill>
                <a:latin typeface="TradeGothic"/>
                <a:ea typeface="TradeGothic"/>
                <a:cs typeface="TradeGothic"/>
                <a:sym typeface="TradeGothic"/>
              </a:defRPr>
            </a:lvl1pPr>
          </a:lstStyle>
          <a:p>
            <a:pPr/>
            <a:r>
              <a:t>@SIH Idea submission- Template</a:t>
            </a:r>
          </a:p>
        </p:txBody>
      </p:sp>
      <p:sp>
        <p:nvSpPr>
          <p:cNvPr id="126" name="Rectangle 9"/>
          <p:cNvSpPr/>
          <p:nvPr/>
        </p:nvSpPr>
        <p:spPr>
          <a:xfrm>
            <a:off x="-1" y="6354762"/>
            <a:ext cx="12192001" cy="503239"/>
          </a:xfrm>
          <a:prstGeom prst="rect">
            <a:avLst/>
          </a:prstGeom>
          <a:solidFill>
            <a:srgbClr val="0070C0"/>
          </a:solidFill>
          <a:ln w="12700">
            <a:miter lim="400000"/>
          </a:ln>
          <a:effectLst>
            <a:outerShdw sx="100000" sy="100000" kx="0" ky="0" algn="b" rotWithShape="0" blurRad="0" dist="23000" dir="5400000">
              <a:srgbClr val="808080">
                <a:alpha val="34999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953735"/>
                </a:solidFill>
              </a:defRPr>
            </a:pPr>
          </a:p>
        </p:txBody>
      </p:sp>
      <p:sp>
        <p:nvSpPr>
          <p:cNvPr id="127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b="1" sz="36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FEASIBILITY AND VIABILITY</a:t>
            </a:r>
          </a:p>
        </p:txBody>
      </p:sp>
      <p:sp>
        <p:nvSpPr>
          <p:cNvPr id="128" name="TextBox 8"/>
          <p:cNvSpPr txBox="1"/>
          <p:nvPr/>
        </p:nvSpPr>
        <p:spPr>
          <a:xfrm>
            <a:off x="256032" y="1005840"/>
            <a:ext cx="6537960" cy="5120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spcBef>
                <a:spcPts val="1044"/>
              </a:spcBef>
              <a:buNone/>
              <a:defRPr b="1" sz="145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lang="en-US" sz="1450" b="1" dirty="0">
                <a:latin typeface="Times Roman"/>
                <a:ea typeface="Times Roman"/>
                <a:cs typeface="Times Roman"/>
                <a:sym typeface="Times Roman"/>
              </a:rPr>
              <a:t>Feasibility</a:t>
            </a:r>
            <a:endParaRPr lang="en-US" sz="1450" b="1">
              <a:latin typeface="Times Roman"/>
              <a:ea typeface="Times Roman"/>
              <a:cs typeface="Times Roman"/>
              <a:sym typeface="Times Roman"/>
            </a:endParaRPr>
          </a:p>
          <a:p>
            <a:pPr marL="457200" indent="-317500">
              <a:spcBef>
                <a:spcPts val="216"/>
              </a:spcBef>
              <a:buSzPct val="100000"/>
              <a:buFont typeface="Times Roman"/>
              <a:buChar char="•"/>
              <a:defRPr sz="135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lang="en-US" sz="1350" b="0" dirty="0">
                <a:latin typeface="Times Roman"/>
                <a:ea typeface="Times Roman"/>
                <a:cs typeface="Times Roman"/>
                <a:sym typeface="Times Roman"/>
              </a:rPr>
              <a:t>It runs today on a normal laptop. The server installs in about twenty seconds.</a:t>
            </a:r>
            <a:endParaRPr lang="en-US" sz="1350">
              <a:latin typeface="Times Roman"/>
              <a:ea typeface="Times Roman"/>
              <a:cs typeface="Times Roman"/>
              <a:sym typeface="Times Roman"/>
            </a:endParaRPr>
          </a:p>
          <a:p>
            <a:pPr marL="457200" indent="-317500">
              <a:spcBef>
                <a:spcPts val="216"/>
              </a:spcBef>
              <a:buSzPct val="100000"/>
              <a:buFont typeface="Times Roman"/>
              <a:buChar char="•"/>
              <a:defRPr sz="135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lang="en-US" sz="1350" b="0" dirty="0">
                <a:latin typeface="Times Roman"/>
                <a:ea typeface="Times Roman"/>
                <a:cs typeface="Times Roman"/>
                <a:sym typeface="Times Roman"/>
              </a:rPr>
              <a:t>Nothing paid is needed. The data is public and the map tiles are free.</a:t>
            </a:r>
            <a:endParaRPr lang="en-US" sz="1350">
              <a:latin typeface="Times Roman"/>
              <a:ea typeface="Times Roman"/>
              <a:cs typeface="Times Roman"/>
              <a:sym typeface="Times Roman"/>
            </a:endParaRPr>
          </a:p>
          <a:p>
            <a:pPr marL="457200" indent="-317500">
              <a:spcBef>
                <a:spcPts val="216"/>
              </a:spcBef>
              <a:buSzPct val="100000"/>
              <a:buFont typeface="Times Roman"/>
              <a:buChar char="•"/>
              <a:defRPr sz="135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lang="en-US" sz="1350" b="0" dirty="0">
                <a:latin typeface="Times Roman"/>
                <a:ea typeface="Times Roman"/>
                <a:cs typeface="Times Roman"/>
                <a:sym typeface="Times Roman"/>
              </a:rPr>
              <a:t>The whole website is about 150 KB of code over the network, so it opens fast on a weak connection.</a:t>
            </a:r>
            <a:endParaRPr lang="en-US" sz="1350">
              <a:latin typeface="Times Roman"/>
              <a:ea typeface="Times Roman"/>
              <a:cs typeface="Times Roman"/>
              <a:sym typeface="Times Roman"/>
            </a:endParaRPr>
          </a:p>
          <a:p>
            <a:pPr marL="457200" indent="-317500">
              <a:spcBef>
                <a:spcPts val="216"/>
              </a:spcBef>
              <a:buSzPct val="100000"/>
              <a:buFont typeface="Times Roman"/>
              <a:buChar char="•"/>
              <a:defRPr sz="135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lang="en-US" sz="1350" b="0" dirty="0">
                <a:latin typeface="Times Roman"/>
                <a:ea typeface="Times Roman"/>
                <a:cs typeface="Times Roman"/>
                <a:sym typeface="Times Roman"/>
              </a:rPr>
              <a:t>Covering another state means running the same script on that state’s files.</a:t>
            </a:r>
            <a:endParaRPr lang="en-US" sz="1350">
              <a:latin typeface="Times Roman"/>
              <a:ea typeface="Times Roman"/>
              <a:cs typeface="Times Roman"/>
              <a:sym typeface="Times Roman"/>
            </a:endParaRPr>
          </a:p>
          <a:p>
            <a:pPr>
              <a:buNone/>
              <a:defRPr sz="742">
                <a:latin typeface="Times Roman"/>
                <a:ea typeface="Times Roman"/>
                <a:cs typeface="Times Roman"/>
                <a:sym typeface="Times Roman"/>
              </a:defRPr>
            </a:pPr>
            <a:endParaRPr lang="en-US" sz="742">
              <a:latin typeface="Times Roman"/>
              <a:ea typeface="Times Roman"/>
              <a:cs typeface="Times Roman"/>
              <a:sym typeface="Times Roman"/>
            </a:endParaRPr>
          </a:p>
          <a:p>
            <a:pPr>
              <a:spcBef>
                <a:spcPts val="1044"/>
              </a:spcBef>
              <a:buNone/>
              <a:defRPr b="1" sz="145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lang="en-US" sz="1450" b="1" dirty="0">
                <a:latin typeface="Times Roman"/>
                <a:ea typeface="Times Roman"/>
                <a:cs typeface="Times Roman"/>
                <a:sym typeface="Times Roman"/>
              </a:rPr>
              <a:t>Challenges</a:t>
            </a:r>
            <a:endParaRPr lang="en-US" sz="1450" b="1">
              <a:latin typeface="Times Roman"/>
              <a:ea typeface="Times Roman"/>
              <a:cs typeface="Times Roman"/>
              <a:sym typeface="Times Roman"/>
            </a:endParaRPr>
          </a:p>
          <a:p>
            <a:pPr marL="457200" indent="-317500">
              <a:spcBef>
                <a:spcPts val="216"/>
              </a:spcBef>
              <a:buSzPct val="100000"/>
              <a:buFont typeface="Times Roman"/>
              <a:buChar char="•"/>
              <a:defRPr sz="135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lang="en-US" sz="1350" b="0" dirty="0">
                <a:latin typeface="Times Roman"/>
                <a:ea typeface="Times Roman"/>
                <a:cs typeface="Times Roman"/>
                <a:sym typeface="Times Roman"/>
              </a:rPr>
              <a:t>The source files are messy. Joining them the simple way gave 468,322 rows instead of 4,807, because blank work IDs matched each other.</a:t>
            </a:r>
            <a:endParaRPr lang="en-US" sz="1350">
              <a:latin typeface="Times Roman"/>
              <a:ea typeface="Times Roman"/>
              <a:cs typeface="Times Roman"/>
              <a:sym typeface="Times Roman"/>
            </a:endParaRPr>
          </a:p>
          <a:p>
            <a:pPr marL="457200" indent="-317500">
              <a:spcBef>
                <a:spcPts val="216"/>
              </a:spcBef>
              <a:buSzPct val="100000"/>
              <a:buFont typeface="Times Roman"/>
              <a:buChar char="•"/>
              <a:defRPr sz="135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lang="en-US" sz="1350" b="0" dirty="0">
                <a:latin typeface="Times Roman"/>
                <a:ea typeface="Times Roman"/>
                <a:cs typeface="Times Roman"/>
                <a:sym typeface="Times Roman"/>
              </a:rPr>
              <a:t>The files carry no site coordinates and no progress percentage.</a:t>
            </a:r>
            <a:endParaRPr lang="en-US" sz="1350">
              <a:latin typeface="Times Roman"/>
              <a:ea typeface="Times Roman"/>
              <a:cs typeface="Times Roman"/>
              <a:sym typeface="Times Roman"/>
            </a:endParaRPr>
          </a:p>
          <a:p>
            <a:pPr marL="457200" indent="-317500">
              <a:spcBef>
                <a:spcPts val="216"/>
              </a:spcBef>
              <a:buSzPct val="100000"/>
              <a:buFont typeface="Times Roman"/>
              <a:buChar char="•"/>
              <a:defRPr sz="135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lang="en-US" sz="1350" b="0" dirty="0">
                <a:latin typeface="Times Roman"/>
                <a:ea typeface="Times Roman"/>
                <a:cs typeface="Times Roman"/>
                <a:sym typeface="Times Roman"/>
              </a:rPr>
              <a:t>Nobody has a labelled list of fraud cases, so an ordinary trained model is not possible.</a:t>
            </a:r>
            <a:endParaRPr lang="en-US" sz="1350">
              <a:latin typeface="Times Roman"/>
              <a:ea typeface="Times Roman"/>
              <a:cs typeface="Times Roman"/>
              <a:sym typeface="Times Roman"/>
            </a:endParaRPr>
          </a:p>
          <a:p>
            <a:pPr marL="457200" indent="-317500">
              <a:spcBef>
                <a:spcPts val="216"/>
              </a:spcBef>
              <a:buSzPct val="100000"/>
              <a:buFont typeface="Times Roman"/>
              <a:buChar char="•"/>
              <a:defRPr sz="135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lang="en-US" sz="1350" b="0" dirty="0">
                <a:latin typeface="Times Roman"/>
                <a:ea typeface="Times Roman"/>
                <a:cs typeface="Times Roman"/>
                <a:sym typeface="Times Roman"/>
              </a:rPr>
              <a:t>This snapshot covers Maharashtra only.</a:t>
            </a:r>
            <a:endParaRPr lang="en-US" sz="1350">
              <a:latin typeface="Times Roman"/>
              <a:ea typeface="Times Roman"/>
              <a:cs typeface="Times Roman"/>
              <a:sym typeface="Times Roman"/>
            </a:endParaRPr>
          </a:p>
          <a:p>
            <a:pPr>
              <a:buNone/>
              <a:defRPr sz="742">
                <a:latin typeface="Times Roman"/>
                <a:ea typeface="Times Roman"/>
                <a:cs typeface="Times Roman"/>
                <a:sym typeface="Times Roman"/>
              </a:defRPr>
            </a:pPr>
            <a:endParaRPr lang="en-US" sz="742">
              <a:latin typeface="Times Roman"/>
              <a:ea typeface="Times Roman"/>
              <a:cs typeface="Times Roman"/>
              <a:sym typeface="Times Roman"/>
            </a:endParaRPr>
          </a:p>
          <a:p>
            <a:pPr>
              <a:spcBef>
                <a:spcPts val="1044"/>
              </a:spcBef>
              <a:buNone/>
              <a:defRPr b="1" sz="145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lang="en-US" sz="1450" b="1" dirty="0">
                <a:latin typeface="Times Roman"/>
                <a:ea typeface="Times Roman"/>
                <a:cs typeface="Times Roman"/>
                <a:sym typeface="Times Roman"/>
              </a:rPr>
              <a:t>How we handled them</a:t>
            </a:r>
            <a:endParaRPr lang="en-US" sz="1450" b="1">
              <a:latin typeface="Times Roman"/>
              <a:ea typeface="Times Roman"/>
              <a:cs typeface="Times Roman"/>
              <a:sym typeface="Times Roman"/>
            </a:endParaRPr>
          </a:p>
          <a:p>
            <a:pPr marL="457200" indent="-317500">
              <a:spcBef>
                <a:spcPts val="216"/>
              </a:spcBef>
              <a:buSzPct val="100000"/>
              <a:buFont typeface="Times Roman"/>
              <a:buChar char="•"/>
              <a:defRPr sz="135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lang="en-US" sz="1350" b="0" dirty="0">
                <a:latin typeface="Times Roman"/>
                <a:ea typeface="Times Roman"/>
                <a:cs typeface="Times Roman"/>
                <a:sym typeface="Times Roman"/>
              </a:rPr>
              <a:t>The data script skips blank IDs before joining. The result is exactly 4,807 works, and a test checks that number on every run.</a:t>
            </a:r>
            <a:endParaRPr lang="en-US" sz="1350">
              <a:latin typeface="Times Roman"/>
              <a:ea typeface="Times Roman"/>
              <a:cs typeface="Times Roman"/>
              <a:sym typeface="Times Roman"/>
            </a:endParaRPr>
          </a:p>
          <a:p>
            <a:pPr marL="457200" indent="-317500">
              <a:spcBef>
                <a:spcPts val="216"/>
              </a:spcBef>
              <a:buSzPct val="100000"/>
              <a:buFont typeface="Times Roman"/>
              <a:buChar char="•"/>
              <a:defRPr sz="135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lang="en-US" sz="1350" b="0" dirty="0">
                <a:latin typeface="Times Roman"/>
                <a:ea typeface="Times Roman"/>
                <a:cs typeface="Times Roman"/>
                <a:sym typeface="Times Roman"/>
              </a:rPr>
              <a:t>Map pins are placed at district level, and the screen says so in plain words.</a:t>
            </a:r>
            <a:endParaRPr lang="en-US" sz="1350">
              <a:latin typeface="Times Roman"/>
              <a:ea typeface="Times Roman"/>
              <a:cs typeface="Times Roman"/>
              <a:sym typeface="Times Roman"/>
            </a:endParaRPr>
          </a:p>
          <a:p>
            <a:pPr marL="457200" indent="-317500">
              <a:spcBef>
                <a:spcPts val="216"/>
              </a:spcBef>
              <a:buSzPct val="100000"/>
              <a:buFont typeface="Times Roman"/>
              <a:buChar char="•"/>
              <a:defRPr sz="135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lang="en-US" sz="1350" b="0" dirty="0">
                <a:latin typeface="Times Roman"/>
                <a:ea typeface="Times Roman"/>
                <a:cs typeface="Times Roman"/>
                <a:sym typeface="Times Roman"/>
              </a:rPr>
              <a:t>The contractor work log fills the missing progress, entered by the person doing the work.</a:t>
            </a:r>
            <a:endParaRPr lang="en-US" sz="1350">
              <a:latin typeface="Times Roman"/>
              <a:ea typeface="Times Roman"/>
              <a:cs typeface="Times Roman"/>
              <a:sym typeface="Times Roman"/>
            </a:endParaRPr>
          </a:p>
          <a:p>
            <a:pPr marL="457200" indent="-317500">
              <a:spcBef>
                <a:spcPts val="216"/>
              </a:spcBef>
              <a:buSzPct val="100000"/>
              <a:buFont typeface="Times Roman"/>
              <a:buChar char="•"/>
              <a:defRPr sz="135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lang="en-US" sz="1350" b="0" dirty="0">
                <a:latin typeface="Times Roman"/>
                <a:ea typeface="Times Roman"/>
                <a:cs typeface="Times Roman"/>
                <a:sym typeface="Times Roman"/>
              </a:rPr>
              <a:t>The model needs no labelled cases, and it is kept out of the score people act on.</a:t>
            </a:r>
            <a:endParaRPr lang="en-US" sz="1350">
              <a:latin typeface="Times Roman"/>
              <a:ea typeface="Times Roman"/>
              <a:cs typeface="Times Roman"/>
              <a:sym typeface="Times Roman"/>
            </a:endParaRPr>
          </a:p>
        </p:txBody>
      </p:sp>
      <p:sp>
        <p:nvSpPr>
          <p:cNvPr id="129" name="Slide Number Placeholder 5"/>
          <p:cNvSpPr txBox="1"/>
          <p:nvPr>
            <p:ph type="sldNum" sz="quarter" idx="2"/>
          </p:nvPr>
        </p:nvSpPr>
        <p:spPr>
          <a:xfrm>
            <a:off x="11393502" y="6404295"/>
            <a:ext cx="188898" cy="26924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>
              <a:defRPr b="1"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  <p:grpSp>
        <p:nvGrpSpPr>
          <p:cNvPr id="132" name="Oval 11"/>
          <p:cNvGrpSpPr/>
          <p:nvPr/>
        </p:nvGrpSpPr>
        <p:grpSpPr>
          <a:xfrm>
            <a:off x="38100" y="63499"/>
            <a:ext cx="1251858" cy="807336"/>
            <a:chOff x="0" y="0"/>
            <a:chExt cx="1251857" cy="807334"/>
          </a:xfrm>
        </p:grpSpPr>
        <p:sp>
          <p:nvSpPr>
            <p:cNvPr id="130" name="Oval"/>
            <p:cNvSpPr/>
            <p:nvPr/>
          </p:nvSpPr>
          <p:spPr>
            <a:xfrm>
              <a:off x="0" y="0"/>
              <a:ext cx="1251858" cy="807335"/>
            </a:xfrm>
            <a:prstGeom prst="ellipse">
              <a:avLst/>
            </a:prstGeom>
            <a:solidFill>
              <a:srgbClr val="FFFFFF"/>
            </a:solidFill>
            <a:ln w="25400" cap="flat">
              <a:solidFill>
                <a:schemeClr val="accent4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/>
            </a:p>
          </p:txBody>
        </p:sp>
        <p:sp>
          <p:nvSpPr>
            <p:cNvPr id="131" name="sns"/>
            <p:cNvSpPr/>
            <p:nvPr/>
          </p:nvSpPr>
          <p:spPr>
            <a:xfrm>
              <a:off x="241749" y="403666"/>
              <a:ext cx="768358" cy="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0" fill="norm" stroke="1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/>
            </a:lstStyle>
            <a:p>
              <a:pPr/>
              <a:r>
                <a:t>sns</a:t>
              </a:r>
            </a:p>
          </p:txBody>
        </p:sp>
      </p:grpSp>
      <p:pic>
        <p:nvPicPr>
          <p:cNvPr id="133" name="Picture 10" descr="Picture 1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9780085" y="1500"/>
            <a:ext cx="2249852" cy="1062337"/>
          </a:xfrm>
          <a:prstGeom prst="rect">
            <a:avLst/>
          </a:prstGeom>
          <a:ln w="12700">
            <a:miter lim="400000"/>
          </a:ln>
        </p:spPr>
      </p:pic>
      <p:pic>
        <p:nvPicPr>
          <p:cNvPr id="134" name="Picture 133" descr="s4-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4604" y="1115574"/>
            <a:ext cx="4427430" cy="2537460"/>
          </a:xfrm>
          <a:prstGeom prst="rect">
            <a:avLst/>
          </a:prstGeom>
        </p:spPr>
      </p:pic>
      <p:pic>
        <p:nvPicPr>
          <p:cNvPr id="135" name="Picture 134" descr="s4-1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04604" y="3735330"/>
            <a:ext cx="4427430" cy="2537447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Footer Placeholder 6"/>
          <p:cNvSpPr txBox="1"/>
          <p:nvPr/>
        </p:nvSpPr>
        <p:spPr>
          <a:xfrm>
            <a:off x="4693920" y="6404295"/>
            <a:ext cx="3112561" cy="26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200">
                <a:solidFill>
                  <a:srgbClr val="FFFFFF"/>
                </a:solidFill>
                <a:latin typeface="TradeGothic"/>
                <a:ea typeface="TradeGothic"/>
                <a:cs typeface="TradeGothic"/>
                <a:sym typeface="TradeGothic"/>
              </a:defRPr>
            </a:lvl1pPr>
          </a:lstStyle>
          <a:p>
            <a:pPr/>
            <a:r>
              <a:t>@SIH Idea submission- Template</a:t>
            </a:r>
          </a:p>
        </p:txBody>
      </p:sp>
      <p:sp>
        <p:nvSpPr>
          <p:cNvPr id="137" name="Rectangle 9"/>
          <p:cNvSpPr/>
          <p:nvPr/>
        </p:nvSpPr>
        <p:spPr>
          <a:xfrm>
            <a:off x="-1" y="6354762"/>
            <a:ext cx="12192001" cy="503239"/>
          </a:xfrm>
          <a:prstGeom prst="rect">
            <a:avLst/>
          </a:prstGeom>
          <a:solidFill>
            <a:srgbClr val="0070C0"/>
          </a:solidFill>
          <a:ln w="12700">
            <a:miter lim="400000"/>
          </a:ln>
          <a:effectLst>
            <a:outerShdw sx="100000" sy="100000" kx="0" ky="0" algn="b" rotWithShape="0" blurRad="0" dist="23000" dir="5400000">
              <a:srgbClr val="808080">
                <a:alpha val="34999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953735"/>
                </a:solidFill>
              </a:defRPr>
            </a:pPr>
          </a:p>
        </p:txBody>
      </p:sp>
      <p:sp>
        <p:nvSpPr>
          <p:cNvPr id="138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b="1" sz="36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IMPACT AND BENEFITS</a:t>
            </a:r>
          </a:p>
        </p:txBody>
      </p:sp>
      <p:sp>
        <p:nvSpPr>
          <p:cNvPr id="139" name="TextBox 8"/>
          <p:cNvSpPr txBox="1"/>
          <p:nvPr/>
        </p:nvSpPr>
        <p:spPr>
          <a:xfrm>
            <a:off x="256032" y="1005840"/>
            <a:ext cx="6537960" cy="533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spcBef>
                <a:spcPts val="1152"/>
              </a:spcBef>
              <a:buNone/>
              <a:defRPr b="1" sz="16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lang="en-US" sz="1600" b="1" dirty="0">
                <a:latin typeface="Times Roman"/>
                <a:ea typeface="Times Roman"/>
                <a:cs typeface="Times Roman"/>
                <a:sym typeface="Times Roman"/>
              </a:rPr>
              <a:t>Impact</a:t>
            </a:r>
            <a:endParaRPr lang="en-US" sz="1600" b="1">
              <a:latin typeface="Times Roman"/>
              <a:ea typeface="Times Roman"/>
              <a:cs typeface="Times Roman"/>
              <a:sym typeface="Times Roman"/>
            </a:endParaRPr>
          </a:p>
          <a:p>
            <a:pPr marL="457200" indent="-317500">
              <a:spcBef>
                <a:spcPts val="240"/>
              </a:spcBef>
              <a:buSzPct val="100000"/>
              <a:buFont typeface="Times Roman"/>
              <a:buChar char="•"/>
              <a:defRPr sz="15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lang="en-US" sz="1500" b="0" dirty="0">
                <a:latin typeface="Times Roman"/>
                <a:ea typeface="Times Roman"/>
                <a:cs typeface="Times Roman"/>
                <a:sym typeface="Times Roman"/>
              </a:rPr>
              <a:t>An MP opens one screen and sees 84 works and the 24 that need a look, in a few seconds.</a:t>
            </a:r>
            <a:endParaRPr lang="en-US" sz="1500">
              <a:latin typeface="Times Roman"/>
              <a:ea typeface="Times Roman"/>
              <a:cs typeface="Times Roman"/>
              <a:sym typeface="Times Roman"/>
            </a:endParaRPr>
          </a:p>
          <a:p>
            <a:pPr marL="457200" indent="-317500">
              <a:spcBef>
                <a:spcPts val="240"/>
              </a:spcBef>
              <a:buSzPct val="100000"/>
              <a:buFont typeface="Times Roman"/>
              <a:buChar char="•"/>
              <a:defRPr sz="15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lang="en-US" sz="1500" b="0" dirty="0">
                <a:latin typeface="Times Roman"/>
                <a:ea typeface="Times Roman"/>
                <a:cs typeface="Times Roman"/>
                <a:sym typeface="Times Roman"/>
              </a:rPr>
              <a:t>Every flag carries a sentence, so an officer can agree or disagree without asking how the number was made.</a:t>
            </a:r>
            <a:endParaRPr lang="en-US" sz="1500">
              <a:latin typeface="Times Roman"/>
              <a:ea typeface="Times Roman"/>
              <a:cs typeface="Times Roman"/>
              <a:sym typeface="Times Roman"/>
            </a:endParaRPr>
          </a:p>
          <a:p>
            <a:pPr marL="457200" indent="-317500">
              <a:spcBef>
                <a:spcPts val="240"/>
              </a:spcBef>
              <a:buSzPct val="100000"/>
              <a:buFont typeface="Times Roman"/>
              <a:buChar char="•"/>
              <a:defRPr sz="15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lang="en-US" sz="1500" b="0" dirty="0">
                <a:latin typeface="Times Roman"/>
                <a:ea typeface="Times Roman"/>
                <a:cs typeface="Times Roman"/>
                <a:sym typeface="Times Roman"/>
              </a:rPr>
              <a:t>Money paid ahead of the work shows up now, instead of in an audit a year later.</a:t>
            </a:r>
            <a:endParaRPr lang="en-US" sz="1500">
              <a:latin typeface="Times Roman"/>
              <a:ea typeface="Times Roman"/>
              <a:cs typeface="Times Roman"/>
              <a:sym typeface="Times Roman"/>
            </a:endParaRPr>
          </a:p>
          <a:p>
            <a:pPr marL="457200" indent="-317500">
              <a:spcBef>
                <a:spcPts val="240"/>
              </a:spcBef>
              <a:buSzPct val="100000"/>
              <a:buFont typeface="Times Roman"/>
              <a:buChar char="•"/>
              <a:defRPr sz="15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lang="en-US" sz="1500" b="0" dirty="0">
                <a:latin typeface="Times Roman"/>
                <a:ea typeface="Times Roman"/>
                <a:cs typeface="Times Roman"/>
                <a:sym typeface="Times Roman"/>
              </a:rPr>
              <a:t>Contractors record work as it happens, so progress stops being a phone call.</a:t>
            </a:r>
            <a:endParaRPr lang="en-US" sz="1500">
              <a:latin typeface="Times Roman"/>
              <a:ea typeface="Times Roman"/>
              <a:cs typeface="Times Roman"/>
              <a:sym typeface="Times Roman"/>
            </a:endParaRPr>
          </a:p>
          <a:p>
            <a:pPr>
              <a:buNone/>
              <a:defRPr sz="825">
                <a:latin typeface="Times Roman"/>
                <a:ea typeface="Times Roman"/>
                <a:cs typeface="Times Roman"/>
                <a:sym typeface="Times Roman"/>
              </a:defRPr>
            </a:pPr>
            <a:endParaRPr lang="en-US" sz="825">
              <a:latin typeface="Times Roman"/>
              <a:ea typeface="Times Roman"/>
              <a:cs typeface="Times Roman"/>
              <a:sym typeface="Times Roman"/>
            </a:endParaRPr>
          </a:p>
          <a:p>
            <a:pPr>
              <a:spcBef>
                <a:spcPts val="1152"/>
              </a:spcBef>
              <a:buNone/>
              <a:defRPr b="1" sz="16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lang="en-US" sz="1600" b="1" dirty="0">
                <a:latin typeface="Times Roman"/>
                <a:ea typeface="Times Roman"/>
                <a:cs typeface="Times Roman"/>
                <a:sym typeface="Times Roman"/>
              </a:rPr>
              <a:t>Benefits, measured on this snapshot</a:t>
            </a:r>
            <a:endParaRPr lang="en-US" sz="1600" b="1">
              <a:latin typeface="Times Roman"/>
              <a:ea typeface="Times Roman"/>
              <a:cs typeface="Times Roman"/>
              <a:sym typeface="Times Roman"/>
            </a:endParaRPr>
          </a:p>
          <a:p>
            <a:pPr marL="457200" indent="-317500">
              <a:spcBef>
                <a:spcPts val="240"/>
              </a:spcBef>
              <a:buSzPct val="100000"/>
              <a:buFont typeface="Times Roman"/>
              <a:buChar char="•"/>
              <a:defRPr sz="15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lang="en-US" sz="1500" b="0" dirty="0">
                <a:latin typeface="Times Roman"/>
                <a:ea typeface="Times Roman"/>
                <a:cs typeface="Times Roman"/>
                <a:sym typeface="Times Roman"/>
              </a:rPr>
              <a:t>4,807 works checked. 264 flagged: 4 Critical, 74 High and 186 Medium.</a:t>
            </a:r>
            <a:endParaRPr lang="en-US" sz="1500">
              <a:latin typeface="Times Roman"/>
              <a:ea typeface="Times Roman"/>
              <a:cs typeface="Times Roman"/>
              <a:sym typeface="Times Roman"/>
            </a:endParaRPr>
          </a:p>
          <a:p>
            <a:pPr marL="457200" indent="-317500">
              <a:spcBef>
                <a:spcPts val="240"/>
              </a:spcBef>
              <a:buSzPct val="100000"/>
              <a:buFont typeface="Times Roman"/>
              <a:buChar char="•"/>
              <a:defRPr sz="15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lang="en-US" sz="1500" b="0" dirty="0">
                <a:latin typeface="Times Roman"/>
                <a:ea typeface="Times Roman"/>
                <a:cs typeface="Times Roman"/>
                <a:sym typeface="Times Roman"/>
              </a:rPr>
              <a:t>The model picked its 24 most unusual works. 18 of them had been marked Routine by the four checks, so that is 18 extra works worth a second look.</a:t>
            </a:r>
            <a:endParaRPr lang="en-US" sz="1500">
              <a:latin typeface="Times Roman"/>
              <a:ea typeface="Times Roman"/>
              <a:cs typeface="Times Roman"/>
              <a:sym typeface="Times Roman"/>
            </a:endParaRPr>
          </a:p>
          <a:p>
            <a:pPr marL="457200" indent="-317500">
              <a:spcBef>
                <a:spcPts val="240"/>
              </a:spcBef>
              <a:buSzPct val="100000"/>
              <a:buFont typeface="Times Roman"/>
              <a:buChar char="•"/>
              <a:defRPr sz="15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lang="en-US" sz="1500" b="0" dirty="0">
                <a:latin typeface="Times Roman"/>
                <a:ea typeface="Times Roman"/>
                <a:cs typeface="Times Roman"/>
                <a:sym typeface="Times Roman"/>
              </a:rPr>
              <a:t>Rs. 463 crore of approved money brought into one view, with Rs. 147 crore recorded as paid.</a:t>
            </a:r>
            <a:endParaRPr lang="en-US" sz="1500">
              <a:latin typeface="Times Roman"/>
              <a:ea typeface="Times Roman"/>
              <a:cs typeface="Times Roman"/>
              <a:sym typeface="Times Roman"/>
            </a:endParaRPr>
          </a:p>
          <a:p>
            <a:pPr marL="457200" indent="-317500">
              <a:spcBef>
                <a:spcPts val="240"/>
              </a:spcBef>
              <a:buSzPct val="100000"/>
              <a:buFont typeface="Times Roman"/>
              <a:buChar char="•"/>
              <a:defRPr sz="15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lang="en-US" sz="1500" b="0" dirty="0">
                <a:latin typeface="Times Roman"/>
                <a:ea typeface="Times Roman"/>
                <a:cs typeface="Times Roman"/>
                <a:sym typeface="Times Roman"/>
              </a:rPr>
              <a:t>Screening goes from reading 4,807 rows to reading a short ranked list.</a:t>
            </a:r>
            <a:endParaRPr lang="en-US" sz="1500">
              <a:latin typeface="Times Roman"/>
              <a:ea typeface="Times Roman"/>
              <a:cs typeface="Times Roman"/>
              <a:sym typeface="Times Roman"/>
            </a:endParaRPr>
          </a:p>
        </p:txBody>
      </p:sp>
      <p:sp>
        <p:nvSpPr>
          <p:cNvPr id="140" name="Slide Number Placeholder 5"/>
          <p:cNvSpPr txBox="1"/>
          <p:nvPr>
            <p:ph type="sldNum" sz="quarter" idx="2"/>
          </p:nvPr>
        </p:nvSpPr>
        <p:spPr>
          <a:xfrm>
            <a:off x="11393502" y="6404295"/>
            <a:ext cx="188898" cy="26924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>
              <a:defRPr b="1"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  <p:grpSp>
        <p:nvGrpSpPr>
          <p:cNvPr id="143" name="Oval 11"/>
          <p:cNvGrpSpPr/>
          <p:nvPr/>
        </p:nvGrpSpPr>
        <p:grpSpPr>
          <a:xfrm>
            <a:off x="38100" y="63499"/>
            <a:ext cx="1251858" cy="807336"/>
            <a:chOff x="0" y="0"/>
            <a:chExt cx="1251857" cy="807334"/>
          </a:xfrm>
        </p:grpSpPr>
        <p:sp>
          <p:nvSpPr>
            <p:cNvPr id="141" name="Oval"/>
            <p:cNvSpPr/>
            <p:nvPr/>
          </p:nvSpPr>
          <p:spPr>
            <a:xfrm>
              <a:off x="0" y="0"/>
              <a:ext cx="1251858" cy="807335"/>
            </a:xfrm>
            <a:prstGeom prst="ellipse">
              <a:avLst/>
            </a:prstGeom>
            <a:solidFill>
              <a:srgbClr val="FFFFFF"/>
            </a:solidFill>
            <a:ln w="25400" cap="flat">
              <a:solidFill>
                <a:schemeClr val="accent4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/>
            </a:p>
          </p:txBody>
        </p:sp>
        <p:sp>
          <p:nvSpPr>
            <p:cNvPr id="142" name="sns"/>
            <p:cNvSpPr/>
            <p:nvPr/>
          </p:nvSpPr>
          <p:spPr>
            <a:xfrm>
              <a:off x="241749" y="409597"/>
              <a:ext cx="768358" cy="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0" fill="norm" stroke="1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/>
            </a:lstStyle>
            <a:p>
              <a:pPr/>
              <a:r>
                <a:t>sns</a:t>
              </a:r>
            </a:p>
          </p:txBody>
        </p:sp>
      </p:grpSp>
      <p:pic>
        <p:nvPicPr>
          <p:cNvPr id="144" name="Picture 10" descr="Picture 1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9780085" y="1500"/>
            <a:ext cx="2249852" cy="1062337"/>
          </a:xfrm>
          <a:prstGeom prst="rect">
            <a:avLst/>
          </a:prstGeom>
          <a:ln w="12700">
            <a:miter lim="400000"/>
          </a:ln>
        </p:spPr>
      </p:pic>
      <p:pic>
        <p:nvPicPr>
          <p:cNvPr id="145" name="Picture 144" descr="s5-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4604" y="1115574"/>
            <a:ext cx="4427430" cy="2537447"/>
          </a:xfrm>
          <a:prstGeom prst="rect">
            <a:avLst/>
          </a:prstGeom>
        </p:spPr>
      </p:pic>
      <p:pic>
        <p:nvPicPr>
          <p:cNvPr id="146" name="Picture 145" descr="s5-1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04604" y="3735317"/>
            <a:ext cx="4427430" cy="253746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Footer Placeholder 6"/>
          <p:cNvSpPr txBox="1"/>
          <p:nvPr/>
        </p:nvSpPr>
        <p:spPr>
          <a:xfrm>
            <a:off x="4693920" y="6404295"/>
            <a:ext cx="3112561" cy="26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200">
                <a:solidFill>
                  <a:srgbClr val="FFFFFF"/>
                </a:solidFill>
                <a:latin typeface="TradeGothic"/>
                <a:ea typeface="TradeGothic"/>
                <a:cs typeface="TradeGothic"/>
                <a:sym typeface="TradeGothic"/>
              </a:defRPr>
            </a:lvl1pPr>
          </a:lstStyle>
          <a:p>
            <a:pPr/>
            <a:r>
              <a:t>@SIH Idea submission- Template</a:t>
            </a:r>
          </a:p>
        </p:txBody>
      </p:sp>
      <p:sp>
        <p:nvSpPr>
          <p:cNvPr id="148" name="Rectangle 9"/>
          <p:cNvSpPr/>
          <p:nvPr/>
        </p:nvSpPr>
        <p:spPr>
          <a:xfrm>
            <a:off x="-1" y="6354762"/>
            <a:ext cx="12192001" cy="503239"/>
          </a:xfrm>
          <a:prstGeom prst="rect">
            <a:avLst/>
          </a:prstGeom>
          <a:solidFill>
            <a:srgbClr val="0070C0"/>
          </a:solidFill>
          <a:ln w="12700">
            <a:miter lim="400000"/>
          </a:ln>
          <a:effectLst>
            <a:outerShdw sx="100000" sy="100000" kx="0" ky="0" algn="b" rotWithShape="0" blurRad="0" dist="23000" dir="5400000">
              <a:srgbClr val="808080">
                <a:alpha val="34999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953735"/>
                </a:solidFill>
              </a:defRPr>
            </a:pPr>
          </a:p>
        </p:txBody>
      </p:sp>
      <p:sp>
        <p:nvSpPr>
          <p:cNvPr id="149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b="1" sz="36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RESEARCH  AND REFERENCES</a:t>
            </a:r>
          </a:p>
        </p:txBody>
      </p:sp>
      <p:sp>
        <p:nvSpPr>
          <p:cNvPr id="150" name="TextBox 8"/>
          <p:cNvSpPr txBox="1"/>
          <p:nvPr/>
        </p:nvSpPr>
        <p:spPr>
          <a:xfrm>
            <a:off x="256032" y="960120"/>
            <a:ext cx="6537960" cy="5488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spcBef>
                <a:spcPts val="1080"/>
              </a:spcBef>
              <a:buNone/>
              <a:defRPr b="1" sz="15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lang="en-US" sz="1500" b="1" dirty="0">
                <a:latin typeface="Times Roman"/>
                <a:ea typeface="Times Roman"/>
                <a:cs typeface="Times Roman"/>
                <a:sym typeface="Times Roman"/>
              </a:rPr>
              <a:t>Where the data comes from</a:t>
            </a:r>
            <a:endParaRPr lang="en-US" sz="1500" b="1">
              <a:latin typeface="Times Roman"/>
              <a:ea typeface="Times Roman"/>
              <a:cs typeface="Times Roman"/>
              <a:sym typeface="Times Roman"/>
            </a:endParaRPr>
          </a:p>
          <a:p>
            <a:pPr marL="457200" indent="-317500">
              <a:spcBef>
                <a:spcPts val="224"/>
              </a:spcBef>
              <a:buSzPct val="100000"/>
              <a:buFont typeface="Times Roman"/>
              <a:buChar char="•"/>
              <a:defRPr sz="14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lang="en-US" sz="1400" b="1" dirty="0">
                <a:latin typeface="Times Roman"/>
                <a:ea typeface="Times Roman"/>
                <a:cs typeface="Times Roman"/>
                <a:sym typeface="Times Roman"/>
              </a:rPr>
              <a:t>MPLADS eSAKSHI portal:</a:t>
            </a:r>
            <a:r>
              <a:rPr lang="en-US" sz="1400" b="0" dirty="0">
                <a:latin typeface="Times Roman"/>
                <a:ea typeface="Times Roman"/>
                <a:cs typeface="Times Roman"/>
                <a:sym typeface="Times Roman"/>
              </a:rPr>
              <a:t> works recommended, works sanctioned, works completed, expenditure, and the allocated limit for each MP. Maharashtra, snapshot dated 09 September 2026.</a:t>
            </a:r>
            <a:endParaRPr lang="en-US" sz="1400">
              <a:latin typeface="Times Roman"/>
              <a:ea typeface="Times Roman"/>
              <a:cs typeface="Times Roman"/>
              <a:sym typeface="Times Roman"/>
            </a:endParaRPr>
          </a:p>
          <a:p>
            <a:pPr marL="457200" indent="-317500">
              <a:spcBef>
                <a:spcPts val="224"/>
              </a:spcBef>
              <a:buSzPct val="100000"/>
              <a:buFont typeface="Times Roman"/>
              <a:buChar char="•"/>
              <a:defRPr sz="14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lang="en-US" sz="1400" b="0" dirty="0">
                <a:latin typeface="Times Roman"/>
                <a:ea typeface="Times Roman"/>
                <a:cs typeface="Times Roman"/>
                <a:sym typeface="Times Roman"/>
              </a:rPr>
              <a:t>The five files are read exactly as they are. Nothing is edited by hand.</a:t>
            </a:r>
            <a:endParaRPr lang="en-US" sz="1400">
              <a:latin typeface="Times Roman"/>
              <a:ea typeface="Times Roman"/>
              <a:cs typeface="Times Roman"/>
              <a:sym typeface="Times Roman"/>
            </a:endParaRPr>
          </a:p>
          <a:p>
            <a:pPr>
              <a:buNone/>
              <a:defRPr sz="770">
                <a:latin typeface="Times Roman"/>
                <a:ea typeface="Times Roman"/>
                <a:cs typeface="Times Roman"/>
                <a:sym typeface="Times Roman"/>
              </a:defRPr>
            </a:pPr>
            <a:endParaRPr lang="en-US" sz="770">
              <a:latin typeface="Times Roman"/>
              <a:ea typeface="Times Roman"/>
              <a:cs typeface="Times Roman"/>
              <a:sym typeface="Times Roman"/>
            </a:endParaRPr>
          </a:p>
          <a:p>
            <a:pPr>
              <a:spcBef>
                <a:spcPts val="1080"/>
              </a:spcBef>
              <a:buNone/>
              <a:defRPr b="1" sz="15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lang="en-US" sz="1500" b="1" dirty="0">
                <a:latin typeface="Times Roman"/>
                <a:ea typeface="Times Roman"/>
                <a:cs typeface="Times Roman"/>
                <a:sym typeface="Times Roman"/>
              </a:rPr>
              <a:t>Tools used</a:t>
            </a:r>
            <a:endParaRPr lang="en-US" sz="1500" b="1">
              <a:latin typeface="Times Roman"/>
              <a:ea typeface="Times Roman"/>
              <a:cs typeface="Times Roman"/>
              <a:sym typeface="Times Roman"/>
            </a:endParaRPr>
          </a:p>
          <a:p>
            <a:pPr marL="457200" indent="-317500">
              <a:spcBef>
                <a:spcPts val="224"/>
              </a:spcBef>
              <a:buSzPct val="100000"/>
              <a:buFont typeface="Times Roman"/>
              <a:buChar char="•"/>
              <a:defRPr sz="14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lang="en-US" sz="1400" b="1" dirty="0">
                <a:latin typeface="Times Roman"/>
                <a:ea typeface="Times Roman"/>
                <a:cs typeface="Times Roman"/>
                <a:sym typeface="Times Roman"/>
              </a:rPr>
              <a:t>FastAPI:</a:t>
            </a:r>
            <a:r>
              <a:rPr lang="en-US" sz="1400" b="0" dirty="0">
                <a:latin typeface="Times Roman"/>
                <a:ea typeface="Times Roman"/>
                <a:cs typeface="Times Roman"/>
                <a:sym typeface="Times Roman"/>
              </a:rPr>
              <a:t> the server and the API</a:t>
            </a:r>
            <a:endParaRPr lang="en-US" sz="1400">
              <a:latin typeface="Times Roman"/>
              <a:ea typeface="Times Roman"/>
              <a:cs typeface="Times Roman"/>
              <a:sym typeface="Times Roman"/>
            </a:endParaRPr>
          </a:p>
          <a:p>
            <a:pPr marL="457200" indent="-317500">
              <a:spcBef>
                <a:spcPts val="224"/>
              </a:spcBef>
              <a:buSzPct val="100000"/>
              <a:buFont typeface="Times Roman"/>
              <a:buChar char="•"/>
              <a:defRPr sz="14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lang="en-US" sz="1400" b="1" dirty="0">
                <a:latin typeface="Times Roman"/>
                <a:ea typeface="Times Roman"/>
                <a:cs typeface="Times Roman"/>
                <a:sym typeface="Times Roman"/>
              </a:rPr>
              <a:t>scikit-learn and numpy:</a:t>
            </a:r>
            <a:r>
              <a:rPr lang="en-US" sz="1400" b="0" dirty="0">
                <a:latin typeface="Times Roman"/>
                <a:ea typeface="Times Roman"/>
                <a:cs typeface="Times Roman"/>
                <a:sym typeface="Times Roman"/>
              </a:rPr>
              <a:t> training the Isolation Forest, offline only</a:t>
            </a:r>
            <a:endParaRPr lang="en-US" sz="1400">
              <a:latin typeface="Times Roman"/>
              <a:ea typeface="Times Roman"/>
              <a:cs typeface="Times Roman"/>
              <a:sym typeface="Times Roman"/>
            </a:endParaRPr>
          </a:p>
          <a:p>
            <a:pPr marL="457200" indent="-317500">
              <a:spcBef>
                <a:spcPts val="224"/>
              </a:spcBef>
              <a:buSzPct val="100000"/>
              <a:buFont typeface="Times Roman"/>
              <a:buChar char="•"/>
              <a:defRPr sz="14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lang="en-US" sz="1400" b="1" dirty="0">
                <a:latin typeface="Times Roman"/>
                <a:ea typeface="Times Roman"/>
                <a:cs typeface="Times Roman"/>
                <a:sym typeface="Times Roman"/>
              </a:rPr>
              <a:t>React, Vite and TypeScript:</a:t>
            </a:r>
            <a:r>
              <a:rPr lang="en-US" sz="1400" b="0" dirty="0">
                <a:latin typeface="Times Roman"/>
                <a:ea typeface="Times Roman"/>
                <a:cs typeface="Times Roman"/>
                <a:sym typeface="Times Roman"/>
              </a:rPr>
              <a:t> the website</a:t>
            </a:r>
            <a:endParaRPr lang="en-US" sz="1400">
              <a:latin typeface="Times Roman"/>
              <a:ea typeface="Times Roman"/>
              <a:cs typeface="Times Roman"/>
              <a:sym typeface="Times Roman"/>
            </a:endParaRPr>
          </a:p>
          <a:p>
            <a:pPr marL="457200" indent="-317500">
              <a:spcBef>
                <a:spcPts val="224"/>
              </a:spcBef>
              <a:buSzPct val="100000"/>
              <a:buFont typeface="Times Roman"/>
              <a:buChar char="•"/>
              <a:defRPr sz="14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lang="en-US" sz="1400" b="1" dirty="0">
                <a:latin typeface="Times Roman"/>
                <a:ea typeface="Times Roman"/>
                <a:cs typeface="Times Roman"/>
                <a:sym typeface="Times Roman"/>
              </a:rPr>
              <a:t>Leaflet and OpenStreetMap:</a:t>
            </a:r>
            <a:r>
              <a:rPr lang="en-US" sz="1400" b="0" dirty="0">
                <a:latin typeface="Times Roman"/>
                <a:ea typeface="Times Roman"/>
                <a:cs typeface="Times Roman"/>
                <a:sym typeface="Times Roman"/>
              </a:rPr>
              <a:t> the map</a:t>
            </a:r>
            <a:endParaRPr lang="en-US" sz="1400">
              <a:latin typeface="Times Roman"/>
              <a:ea typeface="Times Roman"/>
              <a:cs typeface="Times Roman"/>
              <a:sym typeface="Times Roman"/>
            </a:endParaRPr>
          </a:p>
          <a:p>
            <a:pPr marL="457200" indent="-317500">
              <a:spcBef>
                <a:spcPts val="224"/>
              </a:spcBef>
              <a:buSzPct val="100000"/>
              <a:buFont typeface="Times Roman"/>
              <a:buChar char="•"/>
              <a:defRPr sz="14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lang="en-US" sz="1400" b="1" dirty="0">
                <a:latin typeface="Times Roman"/>
                <a:ea typeface="Times Roman"/>
                <a:cs typeface="Times Roman"/>
                <a:sym typeface="Times Roman"/>
              </a:rPr>
              <a:t>SQLite:</a:t>
            </a:r>
            <a:r>
              <a:rPr lang="en-US" sz="1400" b="0" dirty="0">
                <a:latin typeface="Times Roman"/>
                <a:ea typeface="Times Roman"/>
                <a:cs typeface="Times Roman"/>
                <a:sym typeface="Times Roman"/>
              </a:rPr>
              <a:t> logins and contractor work entries</a:t>
            </a:r>
            <a:endParaRPr lang="en-US" sz="1400">
              <a:latin typeface="Times Roman"/>
              <a:ea typeface="Times Roman"/>
              <a:cs typeface="Times Roman"/>
              <a:sym typeface="Times Roman"/>
            </a:endParaRPr>
          </a:p>
          <a:p>
            <a:pPr>
              <a:buNone/>
              <a:defRPr sz="770">
                <a:latin typeface="Times Roman"/>
                <a:ea typeface="Times Roman"/>
                <a:cs typeface="Times Roman"/>
                <a:sym typeface="Times Roman"/>
              </a:defRPr>
            </a:pPr>
            <a:endParaRPr lang="en-US" sz="770">
              <a:latin typeface="Times Roman"/>
              <a:ea typeface="Times Roman"/>
              <a:cs typeface="Times Roman"/>
              <a:sym typeface="Times Roman"/>
            </a:endParaRPr>
          </a:p>
          <a:p>
            <a:pPr>
              <a:spcBef>
                <a:spcPts val="1080"/>
              </a:spcBef>
              <a:buNone/>
              <a:defRPr b="1" sz="15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lang="en-US" sz="1500" b="1" dirty="0">
                <a:latin typeface="Times Roman"/>
                <a:ea typeface="Times Roman"/>
                <a:cs typeface="Times Roman"/>
                <a:sym typeface="Times Roman"/>
              </a:rPr>
              <a:t>What we read up on</a:t>
            </a:r>
            <a:endParaRPr lang="en-US" sz="1500" b="1">
              <a:latin typeface="Times Roman"/>
              <a:ea typeface="Times Roman"/>
              <a:cs typeface="Times Roman"/>
              <a:sym typeface="Times Roman"/>
            </a:endParaRPr>
          </a:p>
          <a:p>
            <a:pPr marL="457200" indent="-317500">
              <a:spcBef>
                <a:spcPts val="224"/>
              </a:spcBef>
              <a:buSzPct val="100000"/>
              <a:buFont typeface="Times Roman"/>
              <a:buChar char="•"/>
              <a:defRPr sz="14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lang="en-US" sz="1400" b="0" dirty="0">
                <a:latin typeface="Times Roman"/>
                <a:ea typeface="Times Roman"/>
                <a:cs typeface="Times Roman"/>
                <a:sym typeface="Times Roman"/>
              </a:rPr>
              <a:t>Isolation Forest. Liu, Ting and Zhou, 2008. Finding unusual records when nobody has labelled them.</a:t>
            </a:r>
            <a:endParaRPr lang="en-US" sz="1400">
              <a:latin typeface="Times Roman"/>
              <a:ea typeface="Times Roman"/>
              <a:cs typeface="Times Roman"/>
              <a:sym typeface="Times Roman"/>
            </a:endParaRPr>
          </a:p>
          <a:p>
            <a:pPr marL="457200" indent="-317500">
              <a:spcBef>
                <a:spcPts val="224"/>
              </a:spcBef>
              <a:buSzPct val="100000"/>
              <a:buFont typeface="Times Roman"/>
              <a:buChar char="•"/>
              <a:defRPr sz="14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lang="en-US" sz="1400" b="0" dirty="0">
                <a:latin typeface="Times Roman"/>
                <a:ea typeface="Times Roman"/>
                <a:cs typeface="Times Roman"/>
                <a:sym typeface="Times Roman"/>
              </a:rPr>
              <a:t>Near duplicate text matching, for spotting the same work written twice.</a:t>
            </a:r>
            <a:endParaRPr lang="en-US" sz="1400">
              <a:latin typeface="Times Roman"/>
              <a:ea typeface="Times Roman"/>
              <a:cs typeface="Times Roman"/>
              <a:sym typeface="Times Roman"/>
            </a:endParaRPr>
          </a:p>
          <a:p>
            <a:pPr marL="457200" indent="-317500">
              <a:spcBef>
                <a:spcPts val="224"/>
              </a:spcBef>
              <a:buSzPct val="100000"/>
              <a:buFont typeface="Times Roman"/>
              <a:buChar char="•"/>
              <a:defRPr sz="14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lang="en-US" sz="1400" b="0" dirty="0">
                <a:latin typeface="Times Roman"/>
                <a:ea typeface="Times Roman"/>
                <a:cs typeface="Times Roman"/>
                <a:sym typeface="Times Roman"/>
              </a:rPr>
              <a:t>Rule based scoring with published weights, so anyone can check a score by hand.</a:t>
            </a:r>
            <a:endParaRPr lang="en-US" sz="1400">
              <a:latin typeface="Times Roman"/>
              <a:ea typeface="Times Roman"/>
              <a:cs typeface="Times Roman"/>
              <a:sym typeface="Times Roman"/>
            </a:endParaRPr>
          </a:p>
          <a:p>
            <a:pPr>
              <a:buNone/>
              <a:defRPr sz="770">
                <a:latin typeface="Times Roman"/>
                <a:ea typeface="Times Roman"/>
                <a:cs typeface="Times Roman"/>
                <a:sym typeface="Times Roman"/>
              </a:defRPr>
            </a:pPr>
            <a:endParaRPr lang="en-US" sz="770">
              <a:latin typeface="Times Roman"/>
              <a:ea typeface="Times Roman"/>
              <a:cs typeface="Times Roman"/>
              <a:sym typeface="Times Roman"/>
            </a:endParaRPr>
          </a:p>
          <a:p>
            <a:pPr marL="457200" indent="-317500">
              <a:spcBef>
                <a:spcPts val="224"/>
              </a:spcBef>
              <a:buSzPct val="100000"/>
              <a:buFont typeface="Times Roman"/>
              <a:buChar char="•"/>
              <a:defRPr sz="14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lang="en-US" sz="1400" b="1" dirty="0">
                <a:latin typeface="Times Roman"/>
                <a:ea typeface="Times Roman"/>
                <a:cs typeface="Times Roman"/>
                <a:sym typeface="Times Roman"/>
              </a:rPr>
              <a:t>One honest note:</a:t>
            </a:r>
            <a:r>
              <a:rPr lang="en-US" sz="1400" b="0" dirty="0">
                <a:latin typeface="Times Roman"/>
                <a:ea typeface="Times Roman"/>
                <a:cs typeface="Times Roman"/>
                <a:sym typeface="Times Roman"/>
              </a:rPr>
              <a:t> the score ranks records for a person to check. It is not a claim that anyone did anything wrong.</a:t>
            </a:r>
            <a:endParaRPr lang="en-US" sz="1400">
              <a:latin typeface="Times Roman"/>
              <a:ea typeface="Times Roman"/>
              <a:cs typeface="Times Roman"/>
              <a:sym typeface="Times Roman"/>
            </a:endParaRPr>
          </a:p>
        </p:txBody>
      </p:sp>
      <p:sp>
        <p:nvSpPr>
          <p:cNvPr id="151" name="Slide Number Placeholder 5"/>
          <p:cNvSpPr txBox="1"/>
          <p:nvPr>
            <p:ph type="sldNum" sz="quarter" idx="2"/>
          </p:nvPr>
        </p:nvSpPr>
        <p:spPr>
          <a:xfrm>
            <a:off x="11393502" y="6404295"/>
            <a:ext cx="188898" cy="26924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>
              <a:defRPr b="1"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  <p:grpSp>
        <p:nvGrpSpPr>
          <p:cNvPr id="154" name="Oval 8"/>
          <p:cNvGrpSpPr/>
          <p:nvPr/>
        </p:nvGrpSpPr>
        <p:grpSpPr>
          <a:xfrm>
            <a:off x="38100" y="63499"/>
            <a:ext cx="1251858" cy="807336"/>
            <a:chOff x="0" y="0"/>
            <a:chExt cx="1251857" cy="807334"/>
          </a:xfrm>
        </p:grpSpPr>
        <p:sp>
          <p:nvSpPr>
            <p:cNvPr id="152" name="Oval"/>
            <p:cNvSpPr/>
            <p:nvPr/>
          </p:nvSpPr>
          <p:spPr>
            <a:xfrm>
              <a:off x="0" y="0"/>
              <a:ext cx="1251858" cy="807335"/>
            </a:xfrm>
            <a:prstGeom prst="ellipse">
              <a:avLst/>
            </a:prstGeom>
            <a:solidFill>
              <a:srgbClr val="FFFFFF"/>
            </a:solidFill>
            <a:ln w="25400" cap="flat">
              <a:solidFill>
                <a:schemeClr val="accent4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/>
            </a:p>
          </p:txBody>
        </p:sp>
        <p:sp>
          <p:nvSpPr>
            <p:cNvPr id="153" name="sns"/>
            <p:cNvSpPr/>
            <p:nvPr/>
          </p:nvSpPr>
          <p:spPr>
            <a:xfrm>
              <a:off x="241749" y="403666"/>
              <a:ext cx="768358" cy="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0" fill="norm" stroke="1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/>
            </a:lstStyle>
            <a:p>
              <a:pPr/>
              <a:r>
                <a:t>sns</a:t>
              </a:r>
            </a:p>
          </p:txBody>
        </p:sp>
      </p:grpSp>
      <p:pic>
        <p:nvPicPr>
          <p:cNvPr id="155" name="Picture 11" descr="Picture 1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9780085" y="1500"/>
            <a:ext cx="2249852" cy="1062337"/>
          </a:xfrm>
          <a:prstGeom prst="rect">
            <a:avLst/>
          </a:prstGeom>
          <a:ln w="12700">
            <a:miter lim="400000"/>
          </a:ln>
        </p:spPr>
      </p:pic>
      <p:pic>
        <p:nvPicPr>
          <p:cNvPr id="156" name="Picture 155" descr="s6-0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04604" y="1115574"/>
            <a:ext cx="4427430" cy="2537460"/>
          </a:xfrm>
          <a:prstGeom prst="rect">
            <a:avLst/>
          </a:prstGeom>
        </p:spPr>
      </p:pic>
      <p:pic>
        <p:nvPicPr>
          <p:cNvPr id="157" name="Picture 156" descr="s6-1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04604" y="3735330"/>
            <a:ext cx="4427430" cy="2537447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